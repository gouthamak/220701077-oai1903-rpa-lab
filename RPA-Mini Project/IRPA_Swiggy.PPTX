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s/slide7.xml" ContentType="application/vnd.openxmlformats-officedocument.presentationml.slide+xml"/>
  <Override PartName="/ppt/notesSlides/notesSlide5.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theme/theme1.xml" ContentType="application/vnd.openxmlformats-officedocument.theme+xml"/>
  <Override PartName="/ppt/tags/tag5.xml" ContentType="application/vnd.openxmlformats-officedocument.presentationml.tags+xml"/>
  <Override PartName="/ppt/slides/slide12.xml" ContentType="application/vnd.openxmlformats-officedocument.presentationml.slide+xml"/>
  <Override PartName="/ppt/notesSlides/notesSlide9.xml" ContentType="application/vnd.openxmlformats-officedocument.presentationml.notesSlide+xml"/>
  <Override PartName="/ppt/tags/tag9.xml" ContentType="application/vnd.openxmlformats-officedocument.presentationml.tags+xml"/>
  <Override PartName="/ppt/slides/slide17.xml" ContentType="application/vnd.openxmlformats-officedocument.presentationml.slide+xml"/>
  <Override PartName="/ppt/handoutMasters/handoutMaster1.xml" ContentType="application/vnd.openxmlformats-officedocument.presentationml.handoutMaster+xml"/>
  <Override PartName="/ppt/theme/theme3.xml" ContentType="application/vnd.openxmlformats-officedocument.theme+xml"/>
  <Override PartName="/ppt/slides/slide2.xml" ContentType="application/vnd.openxmlformats-officedocument.presentationml.slide+xml"/>
  <Override PartName="/ppt/notesSlides/notesSlide1.xml" ContentType="application/vnd.openxmlformats-officedocument.presentationml.notesSlide+xml"/>
  <Override PartName="/ppt/tags/tag1.xml" ContentType="application/vnd.openxmlformats-officedocument.presentationml.tags+xml"/>
  <Override PartName="/ppt/slides/slide20.xml" ContentType="application/vnd.openxmlformats-officedocument.presentationml.slide+xml"/>
  <Override PartName="/ppt/notesSlides/notesSlide14.xml" ContentType="application/vnd.openxmlformats-officedocument.presentationml.notesSlide+xml"/>
  <Override PartName="/ppt/tags/tag14.xml" ContentType="application/vnd.openxmlformats-officedocument.presentationml.tags+xml"/>
  <Override PartName="/ppt/slides/slide6.xml" ContentType="application/vnd.openxmlformats-officedocument.presentationml.slide+xml"/>
  <Override PartName="/ppt/slides/slide11.xml" ContentType="application/vnd.openxmlformats-officedocument.presentationml.slide+xml"/>
  <Override PartName="/ppt/notesSlides/notesSlide8.xml" ContentType="application/vnd.openxmlformats-officedocument.presentationml.notesSlide+xml"/>
  <Override PartName="/ppt/tags/tag8.xml" ContentType="application/vnd.openxmlformats-officedocument.presentationml.tags+xml"/>
  <Override PartName="/ppt/slides/slide16.xml" ContentType="application/vnd.openxmlformats-officedocument.presentationml.slide+xml"/>
  <Override PartName="/ppt/notesSlides/notesSlide11.xml" ContentType="application/vnd.openxmlformats-officedocument.presentationml.notesSlide+xml"/>
  <Override PartName="/ppt/tags/tag11.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notesSlides/notesSlide13.xml" ContentType="application/vnd.openxmlformats-officedocument.presentationml.notesSlide+xml"/>
  <Override PartName="/ppt/tags/tag13.xml" ContentType="application/vnd.openxmlformats-officedocument.presentationml.tags+xml"/>
  <Override PartName="/ppt/slides/slide5.xml" ContentType="application/vnd.openxmlformats-officedocument.presentationml.slide+xml"/>
  <Override PartName="/ppt/notesSlides/notesSlide4.xml" ContentType="application/vnd.openxmlformats-officedocument.presentationml.notesSlide+xml"/>
  <Override PartName="/ppt/tags/tag4.xml" ContentType="application/vnd.openxmlformats-officedocument.presentationml.tags+xml"/>
  <Override PartName="/ppt/slides/slide10.xml" ContentType="application/vnd.openxmlformats-officedocument.presentationml.slide+xml"/>
  <Override PartName="/ppt/slides/slide23.xml" ContentType="application/vnd.openxmlformats-officedocument.presentationml.slide+xml"/>
  <Override PartName="/ppt/notesSlides/notesSlide17.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tags/tag3.xml" ContentType="application/vnd.openxmlformats-officedocument.presentationml.tags+xml"/>
  <Override PartName="/ppt/slides/slide14.xml" ContentType="application/vnd.openxmlformats-officedocument.presentationml.slide+xml"/>
  <Override PartName="/ppt/slides/slide22.xml" ContentType="application/vnd.openxmlformats-officedocument.presentationml.slide+xml"/>
  <Override PartName="/ppt/notesSlides/notesSlide16.xml" ContentType="application/vnd.openxmlformats-officedocument.presentationml.notesSlide+xml"/>
  <Override PartName="/ppt/viewProps.xml" ContentType="application/vnd.openxmlformats-officedocument.presentationml.viewProps+xml"/>
  <Override PartName="/ppt/slides/slide9.xml" ContentType="application/vnd.openxmlformats-officedocument.presentationml.slide+xml"/>
  <Override PartName="/ppt/notesSlides/notesSlide7.xml" ContentType="application/vnd.openxmlformats-officedocument.presentationml.notesSlide+xml"/>
  <Override PartName="/ppt/tags/tag7.xml" ContentType="application/vnd.openxmlformats-officedocument.presentationml.tags+xml"/>
  <Override PartName="/ppt/slides/slide18.xml" ContentType="application/vnd.openxmlformats-officedocument.presentationml.slide+xml"/>
  <Override PartName="/ppt/notesSlides/notesSlide12.xml" ContentType="application/vnd.openxmlformats-officedocument.presentationml.notesSlide+xml"/>
  <Override PartName="/ppt/tags/tag12.xml" ContentType="application/vnd.openxmlformats-officedocument.presentationml.tags+xml"/>
  <Override PartName="/ppt/slides/slide3.xml" ContentType="application/vnd.openxmlformats-officedocument.presentationml.slide+xml"/>
  <Override PartName="/ppt/notesSlides/notesSlide2.xml" ContentType="application/vnd.openxmlformats-officedocument.presentationml.notesSlide+xml"/>
  <Override PartName="/ppt/tags/tag2.xml" ContentType="application/vnd.openxmlformats-officedocument.presentationml.tags+xml"/>
  <Override PartName="/ppt/slides/slide8.xml" ContentType="application/vnd.openxmlformats-officedocument.presentationml.slide+xml"/>
  <Override PartName="/ppt/notesSlides/notesSlide6.xml" ContentType="application/vnd.openxmlformats-officedocument.presentationml.notesSlide+xml"/>
  <Override PartName="/ppt/tags/tag6.xml" ContentType="application/vnd.openxmlformats-officedocument.presentationml.tags+xml"/>
  <Override PartName="/ppt/slides/slide13.xml" ContentType="application/vnd.openxmlformats-officedocument.presentationml.slide+xml"/>
  <Override PartName="/ppt/notesSlides/notesSlide10.xml" ContentType="application/vnd.openxmlformats-officedocument.presentationml.notesSlide+xml"/>
  <Override PartName="/ppt/tags/tag10.xml" ContentType="application/vnd.openxmlformats-officedocument.presentationml.tags+xml"/>
  <Override PartName="/ppt/slides/slide21.xml" ContentType="application/vnd.openxmlformats-officedocument.presentationml.slide+xml"/>
  <Override PartName="/ppt/notesSlides/notesSlide15.xml" ContentType="application/vnd.openxmlformats-officedocument.presentationml.notesSlide+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package/2006/relationships/metadata/core-properties" Target="/docProps/core.xml" Id="rId3" /><Relationship Type="http://schemas.openxmlformats.org/package/2006/relationships/metadata/thumbnail" Target="/docProps/thumbnail.jpeg" Id="rId2" /><Relationship Type="http://schemas.openxmlformats.org/officeDocument/2006/relationships/officeDocument" Target="/ppt/presentation.xml" Id="rId1" /><Relationship Type="http://schemas.openxmlformats.org/officeDocument/2006/relationships/extended-properties" Target="/docProps/app.xml" Id="rId4"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5"/>
  </p:notesMasterIdLst>
  <p:handoutMasterIdLst>
    <p:handoutMasterId r:id="rId26"/>
  </p:handoutMasterIdLst>
  <p:sldIdLst>
    <p:sldId id="280" r:id="rId2"/>
    <p:sldId id="366" r:id="rId3"/>
    <p:sldId id="380" r:id="rId4"/>
    <p:sldId id="383" r:id="rId5"/>
    <p:sldId id="384" r:id="rId6"/>
    <p:sldId id="400" r:id="rId7"/>
    <p:sldId id="385" r:id="rId8"/>
    <p:sldId id="386" r:id="rId9"/>
    <p:sldId id="387" r:id="rId10"/>
    <p:sldId id="401" r:id="rId11"/>
    <p:sldId id="388" r:id="rId12"/>
    <p:sldId id="390" r:id="rId13"/>
    <p:sldId id="391" r:id="rId14"/>
    <p:sldId id="402" r:id="rId15"/>
    <p:sldId id="403" r:id="rId16"/>
    <p:sldId id="392" r:id="rId17"/>
    <p:sldId id="404" r:id="rId18"/>
    <p:sldId id="393" r:id="rId19"/>
    <p:sldId id="394" r:id="rId20"/>
    <p:sldId id="395" r:id="rId21"/>
    <p:sldId id="397" r:id="rId22"/>
    <p:sldId id="399" r:id="rId23"/>
    <p:sldId id="281"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3088" autoAdjust="0"/>
    <p:restoredTop sz="94364" autoAdjust="0"/>
  </p:normalViewPr>
  <p:slideViewPr>
    <p:cSldViewPr>
      <p:cViewPr varScale="1">
        <p:scale>
          <a:sx n="82" d="100"/>
          <a:sy n="82" d="100"/>
        </p:scale>
        <p:origin x="-1589"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73736200" cy="73736200"/>
</p:viewPr>
</file>

<file path=ppt/_rels/presentation.xml.rels>&#65279;<?xml version="1.0" encoding="utf-8"?><Relationships xmlns="http://schemas.openxmlformats.org/package/2006/relationships"><Relationship Type="http://schemas.openxmlformats.org/officeDocument/2006/relationships/slide" Target="/ppt/slides/slide7.xml" Id="rId8" /><Relationship Type="http://schemas.openxmlformats.org/officeDocument/2006/relationships/slide" Target="/ppt/slides/slide12.xml" Id="rId13" /><Relationship Type="http://schemas.openxmlformats.org/officeDocument/2006/relationships/slide" Target="/ppt/slides/slide17.xml" Id="rId18" /><Relationship Type="http://schemas.openxmlformats.org/officeDocument/2006/relationships/handoutMaster" Target="/ppt/handoutMasters/handoutMaster1.xml" Id="rId26" /><Relationship Type="http://schemas.openxmlformats.org/officeDocument/2006/relationships/slide" Target="/ppt/slides/slide2.xml" Id="rId3" /><Relationship Type="http://schemas.openxmlformats.org/officeDocument/2006/relationships/slide" Target="/ppt/slides/slide20.xml" Id="rId21" /><Relationship Type="http://schemas.openxmlformats.org/officeDocument/2006/relationships/slide" Target="/ppt/slides/slide6.xml" Id="rId7" /><Relationship Type="http://schemas.openxmlformats.org/officeDocument/2006/relationships/slide" Target="/ppt/slides/slide11.xml" Id="rId12" /><Relationship Type="http://schemas.openxmlformats.org/officeDocument/2006/relationships/slide" Target="/ppt/slides/slide16.xml" Id="rId17" /><Relationship Type="http://schemas.openxmlformats.org/officeDocument/2006/relationships/notesMaster" Target="/ppt/notesMasters/notesMaster1.xml" Id="rId25" /><Relationship Type="http://schemas.openxmlformats.org/officeDocument/2006/relationships/slide" Target="/ppt/slides/slide1.xml" Id="rId2" /><Relationship Type="http://schemas.openxmlformats.org/officeDocument/2006/relationships/slide" Target="/ppt/slides/slide15.xml" Id="rId16" /><Relationship Type="http://schemas.openxmlformats.org/officeDocument/2006/relationships/slide" Target="/ppt/slides/slide19.xml" Id="rId20" /><Relationship Type="http://schemas.openxmlformats.org/officeDocument/2006/relationships/theme" Target="/ppt/theme/theme1.xml" Id="rId29" /><Relationship Type="http://schemas.openxmlformats.org/officeDocument/2006/relationships/slideMaster" Target="/ppt/slideMasters/slideMaster1.xml" Id="rId1" /><Relationship Type="http://schemas.openxmlformats.org/officeDocument/2006/relationships/slide" Target="/ppt/slides/slide5.xml" Id="rId6" /><Relationship Type="http://schemas.openxmlformats.org/officeDocument/2006/relationships/slide" Target="/ppt/slides/slide10.xml" Id="rId11" /><Relationship Type="http://schemas.openxmlformats.org/officeDocument/2006/relationships/slide" Target="/ppt/slides/slide23.xml" Id="rId24" /><Relationship Type="http://schemas.openxmlformats.org/officeDocument/2006/relationships/slide" Target="/ppt/slides/slide4.xml" Id="rId5" /><Relationship Type="http://schemas.openxmlformats.org/officeDocument/2006/relationships/slide" Target="/ppt/slides/slide14.xml" Id="rId15" /><Relationship Type="http://schemas.openxmlformats.org/officeDocument/2006/relationships/slide" Target="/ppt/slides/slide22.xml" Id="rId23" /><Relationship Type="http://schemas.openxmlformats.org/officeDocument/2006/relationships/viewProps" Target="/ppt/viewProps.xml" Id="rId28" /><Relationship Type="http://schemas.openxmlformats.org/officeDocument/2006/relationships/slide" Target="/ppt/slides/slide9.xml" Id="rId10" /><Relationship Type="http://schemas.openxmlformats.org/officeDocument/2006/relationships/slide" Target="/ppt/slides/slide18.xml" Id="rId19" /><Relationship Type="http://schemas.openxmlformats.org/officeDocument/2006/relationships/slide" Target="/ppt/slides/slide3.xml" Id="rId4" /><Relationship Type="http://schemas.openxmlformats.org/officeDocument/2006/relationships/slide" Target="/ppt/slides/slide8.xml" Id="rId9" /><Relationship Type="http://schemas.openxmlformats.org/officeDocument/2006/relationships/slide" Target="/ppt/slides/slide13.xml" Id="rId14" /><Relationship Type="http://schemas.openxmlformats.org/officeDocument/2006/relationships/slide" Target="/ppt/slides/slide21.xml" Id="rId22" /><Relationship Type="http://schemas.openxmlformats.org/officeDocument/2006/relationships/presProps" Target="/ppt/presProps.xml" Id="rId27" /><Relationship Type="http://schemas.openxmlformats.org/officeDocument/2006/relationships/tableStyles" Target="/ppt/tableStyles.xml" Id="rId30" /></Relationships>
</file>

<file path=ppt/handoutMasters/_rels/handoutMaster1.xml.rels>&#65279;<?xml version="1.0" encoding="utf-8"?><Relationships xmlns="http://schemas.openxmlformats.org/package/2006/relationships"><Relationship Type="http://schemas.openxmlformats.org/officeDocument/2006/relationships/theme" Target="/ppt/theme/theme3.xml" Id="rId1"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pPr/>
              <a:t>11/21/2024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pPr/>
              <a:t>‹#›</a:t>
            </a:fld>
            <a:endParaRPr lang="en-US"/>
          </a:p>
        </p:txBody>
      </p:sp>
    </p:spTree>
    <p:extLst>
      <p:ext uri="{BB962C8B-B14F-4D97-AF65-F5344CB8AC3E}">
        <p14:creationId xmlns:p14="http://schemas.microsoft.com/office/powerpoint/2010/main" xmlns="" val="1013662154"/>
      </p:ext>
    </p:extLst>
  </p:cSld>
  <p:clrMap bg1="lt1" tx1="dk1" bg2="lt2" tx2="dk2" accent1="accent1" accent2="accent2" accent3="accent3" accent4="accent4" accent5="accent5" accent6="accent6" hlink="hlink" folHlink="folHlink"/>
</p:handoutMaster>
</file>

<file path=ppt/notesMasters/_rels/notesMaster1.xml.rels>&#65279;<?xml version="1.0" encoding="utf-8"?><Relationships xmlns="http://schemas.openxmlformats.org/package/2006/relationships"><Relationship Type="http://schemas.openxmlformats.org/officeDocument/2006/relationships/theme" Target="/ppt/theme/theme2.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xmlns=""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Relationships xmlns="http://schemas.openxmlformats.org/package/2006/relationships"><Relationship Type="http://schemas.openxmlformats.org/officeDocument/2006/relationships/slide" Target="/ppt/slides/slide2.xml" Id="rId2" /><Relationship Type="http://schemas.openxmlformats.org/officeDocument/2006/relationships/notesMaster" Target="/ppt/notesMasters/notesMaster1.xml" Id="rId1" /></Relationships>
</file>

<file path=ppt/notesSlides/_rels/notesSlide2.xml.rels>&#65279;<?xml version="1.0" encoding="utf-8"?><Relationships xmlns="http://schemas.openxmlformats.org/package/2006/relationships"><Relationship Type="http://schemas.openxmlformats.org/officeDocument/2006/relationships/slide" Target="/ppt/slides/slide3.xml" Id="rId2" /><Relationship Type="http://schemas.openxmlformats.org/officeDocument/2006/relationships/notesMaster" Target="/ppt/notesMasters/notesMaster1.xml" Id="rId1" /></Relationships>
</file>

<file path=ppt/notesSlides/_rels/notesSlide3.xml.rels>&#65279;<?xml version="1.0" encoding="utf-8"?><Relationships xmlns="http://schemas.openxmlformats.org/package/2006/relationships"><Relationship Type="http://schemas.openxmlformats.org/officeDocument/2006/relationships/slide" Target="/ppt/slides/slide4.xml" Id="rId2" /><Relationship Type="http://schemas.openxmlformats.org/officeDocument/2006/relationships/notesMaster" Target="/ppt/notesMasters/notesMaster1.xml" Id="rId1" /></Relationships>
</file>

<file path=ppt/notesSlides/_rels/notesSlide4.xml.rels>&#65279;<?xml version="1.0" encoding="utf-8"?><Relationships xmlns="http://schemas.openxmlformats.org/package/2006/relationships"><Relationship Type="http://schemas.openxmlformats.org/officeDocument/2006/relationships/slide" Target="/ppt/slides/slide5.xml" Id="rId2" /><Relationship Type="http://schemas.openxmlformats.org/officeDocument/2006/relationships/notesMaster" Target="/ppt/notesMasters/notesMaster1.xml" Id="rId1" /></Relationships>
</file>

<file path=ppt/notesSlides/_rels/notesSlide5.xml.rels>&#65279;<?xml version="1.0" encoding="utf-8"?><Relationships xmlns="http://schemas.openxmlformats.org/package/2006/relationships"><Relationship Type="http://schemas.openxmlformats.org/officeDocument/2006/relationships/slide" Target="/ppt/slides/slide7.xml" Id="rId2" /><Relationship Type="http://schemas.openxmlformats.org/officeDocument/2006/relationships/notesMaster" Target="/ppt/notesMasters/notesMaster1.xml" Id="rId1" /></Relationships>
</file>

<file path=ppt/notesSlides/_rels/notesSlide6.xml.rels>&#65279;<?xml version="1.0" encoding="utf-8"?><Relationships xmlns="http://schemas.openxmlformats.org/package/2006/relationships"><Relationship Type="http://schemas.openxmlformats.org/officeDocument/2006/relationships/slide" Target="/ppt/slides/slide8.xml" Id="rId2" /><Relationship Type="http://schemas.openxmlformats.org/officeDocument/2006/relationships/notesMaster" Target="/ppt/notesMasters/notesMaster1.xml" Id="rId1" /></Relationships>
</file>

<file path=ppt/notesSlides/_rels/notesSlide7.xml.rels>&#65279;<?xml version="1.0" encoding="utf-8"?><Relationships xmlns="http://schemas.openxmlformats.org/package/2006/relationships"><Relationship Type="http://schemas.openxmlformats.org/officeDocument/2006/relationships/slide" Target="/ppt/slides/slide9.xml" Id="rId2" /><Relationship Type="http://schemas.openxmlformats.org/officeDocument/2006/relationships/notesMaster" Target="/ppt/notesMasters/notesMaster1.xml" Id="rId1" /></Relationships>
</file>

<file path=ppt/notesSlides/_rels/notesSlide8.xml.rels>&#65279;<?xml version="1.0" encoding="utf-8"?><Relationships xmlns="http://schemas.openxmlformats.org/package/2006/relationships"><Relationship Type="http://schemas.openxmlformats.org/officeDocument/2006/relationships/slide" Target="/ppt/slides/slide11.xml" Id="rId2" /><Relationship Type="http://schemas.openxmlformats.org/officeDocument/2006/relationships/notesMaster" Target="/ppt/notesMasters/notesMaster1.xml" Id="rId1" /></Relationships>
</file>

<file path=ppt/notesSlides/_rels/notesSlide9.xml.rels>&#65279;<?xml version="1.0" encoding="utf-8"?><Relationships xmlns="http://schemas.openxmlformats.org/package/2006/relationships"><Relationship Type="http://schemas.openxmlformats.org/officeDocument/2006/relationships/slide" Target="/ppt/slides/slide12.xml" Id="rId2" /><Relationship Type="http://schemas.openxmlformats.org/officeDocument/2006/relationships/notesMaster" Target="/ppt/notesMasters/notesMaster1.xml" Id="rId1" /></Relationships>
</file>

<file path=ppt/notesSlides/_rels/notesSlide10.xml.rels>&#65279;<?xml version="1.0" encoding="utf-8"?><Relationships xmlns="http://schemas.openxmlformats.org/package/2006/relationships"><Relationship Type="http://schemas.openxmlformats.org/officeDocument/2006/relationships/slide" Target="/ppt/slides/slide13.xml" Id="rId2" /><Relationship Type="http://schemas.openxmlformats.org/officeDocument/2006/relationships/notesMaster" Target="/ppt/notesMasters/notesMaster1.xml" Id="rId1" /></Relationships>
</file>

<file path=ppt/notesSlides/_rels/notesSlide11.xml.rels>&#65279;<?xml version="1.0" encoding="utf-8"?><Relationships xmlns="http://schemas.openxmlformats.org/package/2006/relationships"><Relationship Type="http://schemas.openxmlformats.org/officeDocument/2006/relationships/slide" Target="/ppt/slides/slide16.xml" Id="rId2" /><Relationship Type="http://schemas.openxmlformats.org/officeDocument/2006/relationships/notesMaster" Target="/ppt/notesMasters/notesMaster1.xml" Id="rId1" /></Relationships>
</file>

<file path=ppt/notesSlides/_rels/notesSlide12.xml.rels>&#65279;<?xml version="1.0" encoding="utf-8"?><Relationships xmlns="http://schemas.openxmlformats.org/package/2006/relationships"><Relationship Type="http://schemas.openxmlformats.org/officeDocument/2006/relationships/slide" Target="/ppt/slides/slide18.xml" Id="rId2" /><Relationship Type="http://schemas.openxmlformats.org/officeDocument/2006/relationships/notesMaster" Target="/ppt/notesMasters/notesMaster1.xml" Id="rId1" /></Relationships>
</file>

<file path=ppt/notesSlides/_rels/notesSlide13.xml.rels>&#65279;<?xml version="1.0" encoding="utf-8"?><Relationships xmlns="http://schemas.openxmlformats.org/package/2006/relationships"><Relationship Type="http://schemas.openxmlformats.org/officeDocument/2006/relationships/slide" Target="/ppt/slides/slide19.xml" Id="rId2" /><Relationship Type="http://schemas.openxmlformats.org/officeDocument/2006/relationships/notesMaster" Target="/ppt/notesMasters/notesMaster1.xml" Id="rId1" /></Relationships>
</file>

<file path=ppt/notesSlides/_rels/notesSlide14.xml.rels>&#65279;<?xml version="1.0" encoding="utf-8"?><Relationships xmlns="http://schemas.openxmlformats.org/package/2006/relationships"><Relationship Type="http://schemas.openxmlformats.org/officeDocument/2006/relationships/slide" Target="/ppt/slides/slide20.xml" Id="rId2" /><Relationship Type="http://schemas.openxmlformats.org/officeDocument/2006/relationships/notesMaster" Target="/ppt/notesMasters/notesMaster1.xml" Id="rId1" /></Relationships>
</file>

<file path=ppt/notesSlides/_rels/notesSlide15.xml.rels>&#65279;<?xml version="1.0" encoding="utf-8"?><Relationships xmlns="http://schemas.openxmlformats.org/package/2006/relationships"><Relationship Type="http://schemas.openxmlformats.org/officeDocument/2006/relationships/slide" Target="/ppt/slides/slide21.xml" Id="rId2" /><Relationship Type="http://schemas.openxmlformats.org/officeDocument/2006/relationships/notesMaster" Target="/ppt/notesMasters/notesMaster1.xml" Id="rId1" /></Relationships>
</file>

<file path=ppt/notesSlides/_rels/notesSlide16.xml.rels>&#65279;<?xml version="1.0" encoding="utf-8"?><Relationships xmlns="http://schemas.openxmlformats.org/package/2006/relationships"><Relationship Type="http://schemas.openxmlformats.org/officeDocument/2006/relationships/slide" Target="/ppt/slides/slide22.xml" Id="rId2" /><Relationship Type="http://schemas.openxmlformats.org/officeDocument/2006/relationships/notesMaster" Target="/ppt/notesMasters/notesMaster1.xml" Id="rId1" /></Relationships>
</file>

<file path=ppt/notesSlides/_rels/notesSlide17.xml.rels>&#65279;<?xml version="1.0" encoding="utf-8"?><Relationships xmlns="http://schemas.openxmlformats.org/package/2006/relationships"><Relationship Type="http://schemas.openxmlformats.org/officeDocument/2006/relationships/slide" Target="/ppt/slides/slide23.xml" Id="rId2" /><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xmlns=""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xmlns=""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xmlns=""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xmlns=""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xmlns=""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xmlns=""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xmlns=""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xmlns=""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xmlns="" val="2763641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xmlns="" val="8580241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xmlns="" val="13509326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xmlns="" val="8952566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xmlns="" val="2331109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xmlns="" val="2705310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dirty="0"/>
          </a:p>
        </p:txBody>
      </p:sp>
    </p:spTree>
    <p:extLst>
      <p:ext uri="{BB962C8B-B14F-4D97-AF65-F5344CB8AC3E}">
        <p14:creationId xmlns:p14="http://schemas.microsoft.com/office/powerpoint/2010/main" xmlns="" val="2717402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dirty="0"/>
          </a:p>
        </p:txBody>
      </p:sp>
    </p:spTree>
    <p:extLst>
      <p:ext uri="{BB962C8B-B14F-4D97-AF65-F5344CB8AC3E}">
        <p14:creationId xmlns:p14="http://schemas.microsoft.com/office/powerpoint/2010/main" xmlns="" val="3207674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23</a:t>
            </a:fld>
            <a:endParaRPr lang="en-US" dirty="0"/>
          </a:p>
        </p:txBody>
      </p:sp>
    </p:spTree>
    <p:extLst>
      <p:ext uri="{BB962C8B-B14F-4D97-AF65-F5344CB8AC3E}">
        <p14:creationId xmlns:p14="http://schemas.microsoft.com/office/powerpoint/2010/main" xmlns="" val="3212453381"/>
      </p:ext>
    </p:extLst>
  </p:cSld>
  <p:clrMapOvr>
    <a:masterClrMapping/>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0106B4A3-4212-4E39-93DE-E053E8F69C28}" type="datetimeFigureOut">
              <a:rPr lang="en-US" smtClean="0"/>
              <a:pPr/>
              <a:t>11/21/2024</a:t>
            </a:fld>
            <a:endParaRPr lang="en-US"/>
          </a:p>
        </p:txBody>
      </p:sp>
      <p:sp>
        <p:nvSpPr>
          <p:cNvPr id="5" name="Footer Placeholder 4"/>
          <p:cNvSpPr>
            <a:spLocks noGrp="1"/>
          </p:cNvSpPr>
          <p:nvPr>
            <p:ph type="ftr" sz="quarter" idx="11"/>
          </p:nvPr>
        </p:nvSpPr>
        <p:spPr/>
        <p:txBody>
          <a:bodyPr/>
          <a:lstStyle>
            <a:extLst/>
          </a:lstStyle>
          <a:p>
            <a:endParaRPr kumimoji="0" lang="en-US"/>
          </a:p>
        </p:txBody>
      </p:sp>
      <p:sp>
        <p:nvSpPr>
          <p:cNvPr id="6" name="Slide Number Placeholder 5"/>
          <p:cNvSpPr>
            <a:spLocks noGrp="1"/>
          </p:cNvSpPr>
          <p:nvPr>
            <p:ph type="sldNum" sz="quarter" idx="12"/>
          </p:nvPr>
        </p:nvSpPr>
        <p:spPr/>
        <p:txBody>
          <a:bodyPr/>
          <a:lstStyle>
            <a:extLst/>
          </a:lstStyle>
          <a:p>
            <a:fld id="{A3DCDF73-85D2-4237-9B32-053DBDB0C312}" type="slidenum">
              <a:rPr kumimoji="0" lang="en-US" smtClean="0"/>
              <a:pPr/>
              <a:t>‹#›</a:t>
            </a:fld>
            <a:endParaRPr kumimoji="0" lang="en-US"/>
          </a:p>
        </p:txBody>
      </p:sp>
      <p:sp>
        <p:nvSpPr>
          <p:cNvPr id="7"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smtClean="0">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smtClean="0">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8" name="Straight Connector 7"/>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smtClean="0">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indent="-342900" algn="ctr">
                <a:def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5EA8BEFB-AE5B-48F9-BBAD-B489CDE48C80}"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7.xml" Id="rId7" /><Relationship Type="http://schemas.openxmlformats.org/officeDocument/2006/relationships/theme" Target="/ppt/theme/theme1.xml" Id="rId12" /><Relationship Type="http://schemas.openxmlformats.org/officeDocument/2006/relationships/slideLayout" Target="/ppt/slideLayouts/slideLayout2.xml" Id="rId2"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5EA8BEFB-AE5B-48F9-BBAD-B489CDE48C80}"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4" r:id="rId2"/>
    <p:sldLayoutId id="2147483679" r:id="rId7"/>
  </p:sldLayoutIdLst>
  <p:hf sldNum="0" hd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&#65279;<?xml version="1.0" encoding="utf-8"?><Relationships xmlns="http://schemas.openxmlformats.org/package/2006/relationships"><Relationship Type="http://schemas.openxmlformats.org/officeDocument/2006/relationships/image" Target="/ppt/media/image3.jpeg" Id="rId3" /><Relationship Type="http://schemas.openxmlformats.org/officeDocument/2006/relationships/image" Target="/ppt/media/image2.jpeg" Id="rId2" /><Relationship Type="http://schemas.openxmlformats.org/officeDocument/2006/relationships/slideLayout" Target="/ppt/slideLayouts/slideLayout7.xml" Id="rId1" /></Relationships>
</file>

<file path=ppt/slides/_rels/slide2.xml.rels>&#65279;<?xml version="1.0" encoding="utf-8"?><Relationships xmlns="http://schemas.openxmlformats.org/package/2006/relationships"><Relationship Type="http://schemas.openxmlformats.org/officeDocument/2006/relationships/notesSlide" Target="/ppt/notesSlides/notesSlide1.xml" Id="rId3" /><Relationship Type="http://schemas.openxmlformats.org/officeDocument/2006/relationships/slideLayout" Target="/ppt/slideLayouts/slideLayout2.xml" Id="rId2" /><Relationship Type="http://schemas.openxmlformats.org/officeDocument/2006/relationships/tags" Target="/ppt/tags/tag1.xml" Id="rId1"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Id3" /><Relationship Type="http://schemas.openxmlformats.org/officeDocument/2006/relationships/slideLayout" Target="/ppt/slideLayouts/slideLayout2.xml" Id="rId2" /><Relationship Type="http://schemas.openxmlformats.org/officeDocument/2006/relationships/tags" Target="/ppt/tags/tag2.xml" Id="rId1"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Id3" /><Relationship Type="http://schemas.openxmlformats.org/officeDocument/2006/relationships/slideLayout" Target="/ppt/slideLayouts/slideLayout2.xml" Id="rId2" /><Relationship Type="http://schemas.openxmlformats.org/officeDocument/2006/relationships/tags" Target="/ppt/tags/tag3.xml" Id="rId1"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Id3" /><Relationship Type="http://schemas.openxmlformats.org/officeDocument/2006/relationships/slideLayout" Target="/ppt/slideLayouts/slideLayout2.xml" Id="rId2" /><Relationship Type="http://schemas.openxmlformats.org/officeDocument/2006/relationships/tags" Target="/ppt/tags/tag4.xml" Id="rI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7.xml.rels>&#65279;<?xml version="1.0" encoding="utf-8"?><Relationships xmlns="http://schemas.openxmlformats.org/package/2006/relationships"><Relationship Type="http://schemas.openxmlformats.org/officeDocument/2006/relationships/notesSlide" Target="/ppt/notesSlides/notesSlide5.xml" Id="rId3" /><Relationship Type="http://schemas.openxmlformats.org/officeDocument/2006/relationships/slideLayout" Target="/ppt/slideLayouts/slideLayout2.xml" Id="rId2" /><Relationship Type="http://schemas.openxmlformats.org/officeDocument/2006/relationships/tags" Target="/ppt/tags/tag5.xml" Id="rId1" /></Relationships>
</file>

<file path=ppt/slides/_rels/slide8.xml.rels>&#65279;<?xml version="1.0" encoding="utf-8"?><Relationships xmlns="http://schemas.openxmlformats.org/package/2006/relationships"><Relationship Type="http://schemas.openxmlformats.org/officeDocument/2006/relationships/notesSlide" Target="/ppt/notesSlides/notesSlide6.xml" Id="rId3" /><Relationship Type="http://schemas.openxmlformats.org/officeDocument/2006/relationships/slideLayout" Target="/ppt/slideLayouts/slideLayout2.xml" Id="rId2" /><Relationship Type="http://schemas.openxmlformats.org/officeDocument/2006/relationships/tags" Target="/ppt/tags/tag6.xml" Id="rId1" /><Relationship Type="http://schemas.openxmlformats.org/officeDocument/2006/relationships/image" Target="/ppt/media/image4.png" Id="rId4" /></Relationships>
</file>

<file path=ppt/slides/_rels/slide9.xml.rels>&#65279;<?xml version="1.0" encoding="utf-8"?><Relationships xmlns="http://schemas.openxmlformats.org/package/2006/relationships"><Relationship Type="http://schemas.openxmlformats.org/officeDocument/2006/relationships/notesSlide" Target="/ppt/notesSlides/notesSlide7.xml" Id="rId3" /><Relationship Type="http://schemas.openxmlformats.org/officeDocument/2006/relationships/slideLayout" Target="/ppt/slideLayouts/slideLayout2.xml" Id="rId2" /><Relationship Type="http://schemas.openxmlformats.org/officeDocument/2006/relationships/tags" Target="/ppt/tags/tag7.xml" Id="rI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1.xml.rels>&#65279;<?xml version="1.0" encoding="utf-8"?><Relationships xmlns="http://schemas.openxmlformats.org/package/2006/relationships"><Relationship Type="http://schemas.openxmlformats.org/officeDocument/2006/relationships/notesSlide" Target="/ppt/notesSlides/notesSlide8.xml" Id="rId3" /><Relationship Type="http://schemas.openxmlformats.org/officeDocument/2006/relationships/slideLayout" Target="/ppt/slideLayouts/slideLayout2.xml" Id="rId2" /><Relationship Type="http://schemas.openxmlformats.org/officeDocument/2006/relationships/tags" Target="/ppt/tags/tag8.xml" Id="rId1" /><Relationship Type="http://schemas.openxmlformats.org/officeDocument/2006/relationships/image" Target="/ppt/media/image5.png" Id="rId4" /></Relationships>
</file>

<file path=ppt/slides/_rels/slide12.xml.rels>&#65279;<?xml version="1.0" encoding="utf-8"?><Relationships xmlns="http://schemas.openxmlformats.org/package/2006/relationships"><Relationship Type="http://schemas.openxmlformats.org/officeDocument/2006/relationships/notesSlide" Target="/ppt/notesSlides/notesSlide9.xml" Id="rId3" /><Relationship Type="http://schemas.openxmlformats.org/officeDocument/2006/relationships/slideLayout" Target="/ppt/slideLayouts/slideLayout2.xml" Id="rId2" /><Relationship Type="http://schemas.openxmlformats.org/officeDocument/2006/relationships/tags" Target="/ppt/tags/tag9.xml" Id="rId1" /></Relationships>
</file>

<file path=ppt/slides/_rels/slide13.xml.rels>&#65279;<?xml version="1.0" encoding="utf-8"?><Relationships xmlns="http://schemas.openxmlformats.org/package/2006/relationships"><Relationship Type="http://schemas.openxmlformats.org/officeDocument/2006/relationships/notesSlide" Target="/ppt/notesSlides/notesSlide10.xml" Id="rId3" /><Relationship Type="http://schemas.openxmlformats.org/officeDocument/2006/relationships/slideLayout" Target="/ppt/slideLayouts/slideLayout2.xml" Id="rId2" /><Relationship Type="http://schemas.openxmlformats.org/officeDocument/2006/relationships/tags" Target="/ppt/tags/tag10.xml" Id="rId1" /><Relationship Type="http://schemas.openxmlformats.org/officeDocument/2006/relationships/image" Target="/ppt/media/image7.png" Id="rId5" /><Relationship Type="http://schemas.openxmlformats.org/officeDocument/2006/relationships/image" Target="/ppt/media/image6.png" Id="rId4" /></Relationships>
</file>

<file path=ppt/slides/_rels/slide14.xml.rels>&#65279;<?xml version="1.0" encoding="utf-8"?><Relationships xmlns="http://schemas.openxmlformats.org/package/2006/relationships"><Relationship Type="http://schemas.openxmlformats.org/officeDocument/2006/relationships/image" Target="/ppt/media/image9.png" Id="rId3" /><Relationship Type="http://schemas.openxmlformats.org/officeDocument/2006/relationships/image" Target="/ppt/media/image8.png" Id="rId2" /><Relationship Type="http://schemas.openxmlformats.org/officeDocument/2006/relationships/slideLayout" Target="/ppt/slideLayouts/slideLayout2.xml" Id="rId1" /></Relationships>
</file>

<file path=ppt/slides/_rels/slide15.xml.rels>&#65279;<?xml version="1.0" encoding="utf-8"?><Relationships xmlns="http://schemas.openxmlformats.org/package/2006/relationships"><Relationship Type="http://schemas.openxmlformats.org/officeDocument/2006/relationships/image" Target="/ppt/media/image10.png" Id="rId2" /><Relationship Type="http://schemas.openxmlformats.org/officeDocument/2006/relationships/slideLayout" Target="/ppt/slideLayouts/slideLayout2.xml" Id="rId1" /></Relationships>
</file>

<file path=ppt/slides/_rels/slide16.xml.rels>&#65279;<?xml version="1.0" encoding="utf-8"?><Relationships xmlns="http://schemas.openxmlformats.org/package/2006/relationships"><Relationship Type="http://schemas.openxmlformats.org/officeDocument/2006/relationships/notesSlide" Target="/ppt/notesSlides/notesSlide11.xml" Id="rId3" /><Relationship Type="http://schemas.openxmlformats.org/officeDocument/2006/relationships/slideLayout" Target="/ppt/slideLayouts/slideLayout2.xml" Id="rId2" /><Relationship Type="http://schemas.openxmlformats.org/officeDocument/2006/relationships/tags" Target="/ppt/tags/tag11.xml" Id="rId1" /><Relationship Type="http://schemas.openxmlformats.org/officeDocument/2006/relationships/image" Target="/ppt/media/image12.png" Id="rId5" /><Relationship Type="http://schemas.openxmlformats.org/officeDocument/2006/relationships/image" Target="/ppt/media/image11.png" Id="rId4" /></Relationships>
</file>

<file path=ppt/slides/_rels/slide17.xml.rels>&#65279;<?xml version="1.0" encoding="utf-8"?><Relationships xmlns="http://schemas.openxmlformats.org/package/2006/relationships"><Relationship Type="http://schemas.openxmlformats.org/officeDocument/2006/relationships/image" Target="/ppt/media/image14.png" Id="rId3" /><Relationship Type="http://schemas.openxmlformats.org/officeDocument/2006/relationships/image" Target="/ppt/media/image13.png" Id="rId2" /><Relationship Type="http://schemas.openxmlformats.org/officeDocument/2006/relationships/slideLayout" Target="/ppt/slideLayouts/slideLayout2.xml" Id="rId1" /><Relationship Type="http://schemas.openxmlformats.org/officeDocument/2006/relationships/image" Target="/ppt/media/image16.png" Id="rId5" /><Relationship Type="http://schemas.openxmlformats.org/officeDocument/2006/relationships/image" Target="/ppt/media/image15.png" Id="rId4" /></Relationships>
</file>

<file path=ppt/slides/_rels/slide18.xml.rels>&#65279;<?xml version="1.0" encoding="utf-8"?><Relationships xmlns="http://schemas.openxmlformats.org/package/2006/relationships"><Relationship Type="http://schemas.openxmlformats.org/officeDocument/2006/relationships/notesSlide" Target="/ppt/notesSlides/notesSlide12.xml" Id="rId3" /><Relationship Type="http://schemas.openxmlformats.org/officeDocument/2006/relationships/slideLayout" Target="/ppt/slideLayouts/slideLayout2.xml" Id="rId2" /><Relationship Type="http://schemas.openxmlformats.org/officeDocument/2006/relationships/tags" Target="/ppt/tags/tag12.xml" Id="rId1" /></Relationships>
</file>

<file path=ppt/slides/_rels/slide19.xml.rels>&#65279;<?xml version="1.0" encoding="utf-8"?><Relationships xmlns="http://schemas.openxmlformats.org/package/2006/relationships"><Relationship Type="http://schemas.openxmlformats.org/officeDocument/2006/relationships/notesSlide" Target="/ppt/notesSlides/notesSlide13.xml" Id="rId3" /><Relationship Type="http://schemas.openxmlformats.org/officeDocument/2006/relationships/slideLayout" Target="/ppt/slideLayouts/slideLayout2.xml" Id="rId2" /><Relationship Type="http://schemas.openxmlformats.org/officeDocument/2006/relationships/tags" Target="/ppt/tags/tag13.xml" Id="rId1" /></Relationships>
</file>

<file path=ppt/slides/_rels/slide20.xml.rels>&#65279;<?xml version="1.0" encoding="utf-8"?><Relationships xmlns="http://schemas.openxmlformats.org/package/2006/relationships"><Relationship Type="http://schemas.openxmlformats.org/officeDocument/2006/relationships/notesSlide" Target="/ppt/notesSlides/notesSlide14.xml" Id="rId3" /><Relationship Type="http://schemas.openxmlformats.org/officeDocument/2006/relationships/slideLayout" Target="/ppt/slideLayouts/slideLayout2.xml" Id="rId2" /><Relationship Type="http://schemas.openxmlformats.org/officeDocument/2006/relationships/tags" Target="/ppt/tags/tag14.xml" Id="rId1" /><Relationship Type="http://schemas.openxmlformats.org/officeDocument/2006/relationships/hyperlink" Target="https://github.com/topics/rpa" TargetMode="External" Id="rId5" /><Relationship Type="http://schemas.openxmlformats.org/officeDocument/2006/relationships/hyperlink" Target="https://stackoverflow.com/" TargetMode="External" Id="rId4" /></Relationships>
</file>

<file path=ppt/slides/_rels/slide21.xml.rels>&#65279;<?xml version="1.0" encoding="utf-8"?><Relationships xmlns="http://schemas.openxmlformats.org/package/2006/relationships"><Relationship Type="http://schemas.openxmlformats.org/officeDocument/2006/relationships/notesSlide" Target="/ppt/notesSlides/notesSlide15.xml" Id="rId2" /><Relationship Type="http://schemas.openxmlformats.org/officeDocument/2006/relationships/slideLayout" Target="/ppt/slideLayouts/slideLayout7.xml" Id="rId1" /></Relationships>
</file>

<file path=ppt/slides/_rels/slide22.xml.rels>&#65279;<?xml version="1.0" encoding="utf-8"?><Relationships xmlns="http://schemas.openxmlformats.org/package/2006/relationships"><Relationship Type="http://schemas.openxmlformats.org/officeDocument/2006/relationships/notesSlide" Target="/ppt/notesSlides/notesSlide16.xml" Id="rId2" /><Relationship Type="http://schemas.openxmlformats.org/officeDocument/2006/relationships/slideLayout" Target="/ppt/slideLayouts/slideLayout7.xml" Id="rId1" /></Relationships>
</file>

<file path=ppt/slides/_rels/slide23.xml.rels>&#65279;<?xml version="1.0" encoding="utf-8"?><Relationships xmlns="http://schemas.openxmlformats.org/package/2006/relationships"><Relationship Type="http://schemas.openxmlformats.org/officeDocument/2006/relationships/notesSlide" Target="/ppt/notesSlides/notesSlide17.xml" Id="rId2" /><Relationship Type="http://schemas.openxmlformats.org/officeDocument/2006/relationships/slideLayout" Target="/ppt/slideLayouts/slideLayout7.xml" Id="rId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xmlns=""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456757"/>
            <a:chOff x="-14748" y="986564"/>
            <a:chExt cx="9158748" cy="5456757"/>
          </a:xfrm>
        </p:grpSpPr>
        <p:sp>
          <p:nvSpPr>
            <p:cNvPr id="22" name="TextBox 21"/>
            <p:cNvSpPr txBox="1"/>
            <p:nvPr/>
          </p:nvSpPr>
          <p:spPr>
            <a:xfrm>
              <a:off x="177781" y="4812105"/>
              <a:ext cx="5465789" cy="1631216"/>
            </a:xfrm>
            <a:prstGeom prst="rect">
              <a:avLst/>
            </a:prstGeom>
            <a:noFill/>
          </p:spPr>
          <p:txBody>
            <a:bodyPr wrap="square" rtlCol="0">
              <a:spAutoFit/>
            </a:bodyPr>
            <a:lstStyle/>
            <a:p>
              <a:r>
                <a:rPr lang="en-US" sz="2000" b="1" dirty="0" smtClean="0"/>
                <a:t>220701077</a:t>
              </a:r>
              <a:endParaRPr lang="en-US" sz="2000" b="1" dirty="0" smtClean="0"/>
            </a:p>
            <a:p>
              <a:r>
                <a:rPr lang="en-US" sz="2000" b="1" dirty="0" smtClean="0"/>
                <a:t>A K Goutham</a:t>
              </a:r>
              <a:endParaRPr lang="en-US" sz="2000" b="1" dirty="0" smtClean="0"/>
            </a:p>
            <a:p>
              <a:r>
                <a:rPr lang="en-US" sz="2000" b="1" dirty="0" smtClean="0"/>
                <a:t>Mrs. J. </a:t>
              </a:r>
              <a:r>
                <a:rPr lang="en-US" sz="2000" b="1" dirty="0" err="1" smtClean="0"/>
                <a:t>Jinu</a:t>
              </a:r>
              <a:r>
                <a:rPr lang="en-US" sz="2000" b="1" dirty="0" smtClean="0"/>
                <a:t> Sophia(Ph.D.) </a:t>
              </a:r>
              <a:endParaRPr lang="en-US" sz="2000" b="1" dirty="0" smtClean="0"/>
            </a:p>
            <a:p>
              <a:r>
                <a:rPr lang="en-US" sz="2000" b="1" dirty="0" smtClean="0"/>
                <a:t>Assistant Professor (SG) </a:t>
              </a:r>
              <a:endParaRPr lang="en-US" sz="2000" b="1" dirty="0" smtClean="0"/>
            </a:p>
            <a:p>
              <a:r>
                <a:rPr lang="en-US" sz="2000" b="1" dirty="0" smtClean="0"/>
                <a:t>Department </a:t>
              </a:r>
              <a:r>
                <a:rPr lang="en-US" sz="2000" b="1" dirty="0" smtClean="0"/>
                <a:t>of Computer Science and Engineering</a:t>
              </a:r>
              <a:endParaRPr lang="en-US" sz="2000" b="1" dirty="0"/>
            </a:p>
          </p:txBody>
        </p:sp>
        <p:grpSp>
          <p:nvGrpSpPr>
            <p:cNvPr id="43" name="Group 42"/>
            <p:cNvGrpSpPr/>
            <p:nvPr/>
          </p:nvGrpSpPr>
          <p:grpSpPr>
            <a:xfrm>
              <a:off x="-14748" y="986564"/>
              <a:ext cx="9158748" cy="3699662"/>
              <a:chOff x="-14748" y="986564"/>
              <a:chExt cx="9158748" cy="3699662"/>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smtClean="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smtClean="0">
                      <a:solidFill>
                        <a:schemeClr val="bg1"/>
                      </a:solidFill>
                      <a:ea typeface="Open Sans Light" panose="020B0306030504020204" pitchFamily="34" charset="0"/>
                      <a:cs typeface="Open Sans Light" panose="020B0306030504020204" pitchFamily="34" charset="0"/>
                    </a:rPr>
                    <a:t>Robotic Process Automation </a:t>
                  </a:r>
                  <a:endParaRPr lang="en-US" sz="2000" b="1" dirty="0">
                    <a:solidFill>
                      <a:schemeClr val="bg1"/>
                    </a:solidFill>
                    <a:ea typeface="Open Sans Light" panose="020B0306030504020204" pitchFamily="34" charset="0"/>
                    <a:cs typeface="Open Sans Light" panose="020B0306030504020204" pitchFamily="34" charset="0"/>
                  </a:endParaRPr>
                </a:p>
              </p:txBody>
            </p:sp>
          </p:grpSp>
          <p:sp>
            <p:nvSpPr>
              <p:cNvPr id="48" name="TextBox 47"/>
              <p:cNvSpPr txBox="1"/>
              <p:nvPr/>
            </p:nvSpPr>
            <p:spPr>
              <a:xfrm>
                <a:off x="177782" y="2100903"/>
                <a:ext cx="4188156" cy="2585323"/>
              </a:xfrm>
              <a:prstGeom prst="rect">
                <a:avLst/>
              </a:prstGeom>
              <a:noFill/>
            </p:spPr>
            <p:txBody>
              <a:bodyPr wrap="square" rtlCol="0">
                <a:spAutoFit/>
              </a:bodyPr>
              <a:lstStyle/>
              <a:p>
                <a:r>
                  <a:rPr lang="en-IN" sz="5400" b="1" u="sng" dirty="0" smtClean="0">
                    <a:solidFill>
                      <a:schemeClr val="bg1"/>
                    </a:solidFill>
                    <a:ea typeface="Open Sans Bold" panose="020B0806030504020204" pitchFamily="34" charset="0"/>
                    <a:cs typeface="Open Sans Bold" panose="020B0806030504020204" pitchFamily="34" charset="0"/>
                  </a:rPr>
                  <a:t>SWIGGY ORDERING BOT</a:t>
                </a:r>
                <a:endParaRPr lang="en-US" sz="5400" b="1" u="sng" dirty="0" smtClean="0">
                  <a:solidFill>
                    <a:schemeClr val="bg1"/>
                  </a:solidFill>
                  <a:ea typeface="Open Sans Bold" panose="020B0806030504020204" pitchFamily="34" charset="0"/>
                  <a:cs typeface="Open Sans Bold" panose="020B0806030504020204" pitchFamily="34" charset="0"/>
                </a:endParaRP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xmlns="" val="9298666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852" y="142852"/>
            <a:ext cx="7498080" cy="1143000"/>
          </a:xfrm>
        </p:spPr>
        <p:txBody>
          <a:bodyPr>
            <a:normAutofit/>
          </a:bodyPr>
          <a:lstStyle/>
          <a:p>
            <a:r>
              <a:rPr lang="en-IN" b="1" u="sng" dirty="0" smtClean="0"/>
              <a:t>Abstract :</a:t>
            </a:r>
            <a:endParaRPr lang="en-IN" b="1" u="sng" dirty="0">
              <a:latin typeface="+mj-lt"/>
            </a:endParaRPr>
          </a:p>
        </p:txBody>
      </p:sp>
      <p:sp>
        <p:nvSpPr>
          <p:cNvPr id="3" name="Content Placeholder 2"/>
          <p:cNvSpPr>
            <a:spLocks noGrp="1"/>
          </p:cNvSpPr>
          <p:nvPr>
            <p:ph idx="1"/>
          </p:nvPr>
        </p:nvSpPr>
        <p:spPr>
          <a:xfrm>
            <a:off x="1000100" y="1285860"/>
            <a:ext cx="7498080" cy="4800600"/>
          </a:xfrm>
        </p:spPr>
        <p:txBody>
          <a:bodyPr>
            <a:normAutofit fontScale="47500" lnSpcReduction="20000"/>
          </a:bodyPr>
          <a:lstStyle/>
          <a:p>
            <a:pPr algn="just">
              <a:lnSpc>
                <a:spcPct val="170000"/>
              </a:lnSpc>
            </a:pPr>
            <a:r>
              <a:rPr lang="en-US" dirty="0" smtClean="0">
                <a:latin typeface="Times New Roman" pitchFamily="18" charset="0"/>
              </a:rPr>
              <a:t>This project showcases the development of an automated </a:t>
            </a:r>
            <a:r>
              <a:rPr lang="en-US" dirty="0" err="1" smtClean="0">
                <a:latin typeface="Times New Roman" pitchFamily="18" charset="0"/>
              </a:rPr>
              <a:t>bot</a:t>
            </a:r>
            <a:r>
              <a:rPr lang="en-US" dirty="0" smtClean="0">
                <a:latin typeface="Times New Roman" pitchFamily="18" charset="0"/>
              </a:rPr>
              <a:t> designed to streamline the food-ordering process on the </a:t>
            </a:r>
            <a:r>
              <a:rPr lang="en-US" dirty="0" err="1" smtClean="0">
                <a:latin typeface="Times New Roman" pitchFamily="18" charset="0"/>
              </a:rPr>
              <a:t>Swiggy</a:t>
            </a:r>
            <a:r>
              <a:rPr lang="en-US" dirty="0" smtClean="0">
                <a:latin typeface="Times New Roman" pitchFamily="18" charset="0"/>
              </a:rPr>
              <a:t> platform. Built using Robotic Process Automation (RPA) tools like </a:t>
            </a:r>
            <a:r>
              <a:rPr lang="en-US" dirty="0" err="1" smtClean="0">
                <a:latin typeface="Times New Roman" pitchFamily="18" charset="0"/>
              </a:rPr>
              <a:t>UiPath</a:t>
            </a:r>
            <a:r>
              <a:rPr lang="en-US" dirty="0" smtClean="0">
                <a:latin typeface="Times New Roman" pitchFamily="18" charset="0"/>
              </a:rPr>
              <a:t>, the </a:t>
            </a:r>
            <a:r>
              <a:rPr lang="en-US" dirty="0" err="1" smtClean="0">
                <a:latin typeface="Times New Roman" pitchFamily="18" charset="0"/>
              </a:rPr>
              <a:t>bot</a:t>
            </a:r>
            <a:r>
              <a:rPr lang="en-US" dirty="0" smtClean="0">
                <a:latin typeface="Times New Roman" pitchFamily="18" charset="0"/>
              </a:rPr>
              <a:t> automates the entire workflow, from searching for specific dishes or restaurants to placing an order. The process begins by navigating to the </a:t>
            </a:r>
            <a:r>
              <a:rPr lang="en-US" dirty="0" err="1" smtClean="0">
                <a:latin typeface="Times New Roman" pitchFamily="18" charset="0"/>
              </a:rPr>
              <a:t>Swiggy</a:t>
            </a:r>
            <a:r>
              <a:rPr lang="en-US" dirty="0" smtClean="0">
                <a:latin typeface="Times New Roman" pitchFamily="18" charset="0"/>
              </a:rPr>
              <a:t> website and taking user inputs such as dish names, preferences (e.g., </a:t>
            </a:r>
            <a:r>
              <a:rPr lang="en-US" dirty="0" err="1" smtClean="0">
                <a:latin typeface="Times New Roman" pitchFamily="18" charset="0"/>
              </a:rPr>
              <a:t>Veg</a:t>
            </a:r>
            <a:r>
              <a:rPr lang="en-US" dirty="0" smtClean="0">
                <a:latin typeface="Times New Roman" pitchFamily="18" charset="0"/>
              </a:rPr>
              <a:t> or Non-</a:t>
            </a:r>
            <a:r>
              <a:rPr lang="en-US" dirty="0" err="1" smtClean="0">
                <a:latin typeface="Times New Roman" pitchFamily="18" charset="0"/>
              </a:rPr>
              <a:t>Veg</a:t>
            </a:r>
            <a:r>
              <a:rPr lang="en-US" dirty="0" smtClean="0">
                <a:latin typeface="Times New Roman" pitchFamily="18" charset="0"/>
              </a:rPr>
              <a:t>), and quantity. The </a:t>
            </a:r>
            <a:r>
              <a:rPr lang="en-US" dirty="0" err="1" smtClean="0">
                <a:latin typeface="Times New Roman" pitchFamily="18" charset="0"/>
              </a:rPr>
              <a:t>bot</a:t>
            </a:r>
            <a:r>
              <a:rPr lang="en-US" dirty="0" smtClean="0">
                <a:latin typeface="Times New Roman" pitchFamily="18" charset="0"/>
              </a:rPr>
              <a:t> performs actions such as searching for items, extracting structured data, filtering based on user preferences, adding selected items to the cart, and updating quantities. Finally, it proceeds to the checkout step, completing the order placement. This automation significantly reduces manual effort, enhances efficiency, and provides a seamless experience for users, demonstrating the potential of RPA in simplifying repetitive online tasks.</a:t>
            </a:r>
            <a:endParaRPr lang="en-US" dirty="0">
              <a:latin typeface="Times New Roman" pitchFamily="18" charset="0"/>
            </a:endParaRPr>
          </a:p>
        </p:txBody>
      </p:sp>
    </p:spTree>
    <p:custDataLst>
      <p:tags r:id="rId1"/>
    </p:custDataLst>
    <p:extLst>
      <p:ext uri="{BB962C8B-B14F-4D97-AF65-F5344CB8AC3E}">
        <p14:creationId xmlns:p14="http://schemas.microsoft.com/office/powerpoint/2010/main" xmlns="" val="25404079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414" y="142852"/>
            <a:ext cx="7498080" cy="1143000"/>
          </a:xfrm>
        </p:spPr>
        <p:txBody>
          <a:bodyPr>
            <a:normAutofit fontScale="90000"/>
          </a:bodyPr>
          <a:lstStyle/>
          <a:p>
            <a:r>
              <a:rPr lang="en-US" b="1" u="sng" dirty="0"/>
              <a:t>Need for the Proposed </a:t>
            </a:r>
            <a:r>
              <a:rPr lang="en-US" b="1" u="sng" dirty="0" smtClean="0"/>
              <a:t>System:</a:t>
            </a:r>
            <a:endParaRPr lang="en-IN" b="1" u="sng" dirty="0">
              <a:latin typeface="+mj-lt"/>
            </a:endParaRPr>
          </a:p>
        </p:txBody>
      </p:sp>
      <p:sp>
        <p:nvSpPr>
          <p:cNvPr id="3" name="Content Placeholder 2"/>
          <p:cNvSpPr>
            <a:spLocks noGrp="1"/>
          </p:cNvSpPr>
          <p:nvPr>
            <p:ph idx="1"/>
          </p:nvPr>
        </p:nvSpPr>
        <p:spPr>
          <a:xfrm>
            <a:off x="1071538" y="1285860"/>
            <a:ext cx="7569518" cy="4872038"/>
          </a:xfrm>
        </p:spPr>
        <p:txBody>
          <a:bodyPr>
            <a:normAutofit fontScale="47500" lnSpcReduction="20000"/>
          </a:bodyPr>
          <a:lstStyle/>
          <a:p>
            <a:pPr algn="just">
              <a:lnSpc>
                <a:spcPct val="220000"/>
              </a:lnSpc>
              <a:buFont typeface="Arial" pitchFamily="34" charset="0"/>
              <a:buChar char="•"/>
            </a:pPr>
            <a:r>
              <a:rPr lang="en-US" dirty="0" smtClean="0"/>
              <a:t> </a:t>
            </a:r>
            <a:r>
              <a:rPr lang="en-US" dirty="0" smtClean="0">
                <a:latin typeface="Times New Roman" pitchFamily="18" charset="0"/>
              </a:rPr>
              <a:t>The </a:t>
            </a:r>
            <a:r>
              <a:rPr lang="en-US" dirty="0" err="1" smtClean="0">
                <a:latin typeface="Times New Roman" pitchFamily="18" charset="0"/>
              </a:rPr>
              <a:t>Swiggy</a:t>
            </a:r>
            <a:r>
              <a:rPr lang="en-US" dirty="0" smtClean="0">
                <a:latin typeface="Times New Roman" pitchFamily="18" charset="0"/>
              </a:rPr>
              <a:t> Ordering </a:t>
            </a:r>
            <a:r>
              <a:rPr lang="en-US" dirty="0" err="1" smtClean="0">
                <a:latin typeface="Times New Roman" pitchFamily="18" charset="0"/>
              </a:rPr>
              <a:t>Bot</a:t>
            </a:r>
            <a:r>
              <a:rPr lang="en-US" dirty="0" smtClean="0">
                <a:latin typeface="Times New Roman" pitchFamily="18" charset="0"/>
              </a:rPr>
              <a:t> is a Robotic Process Automation (RPA)-based solution designed to simplify and streamline the food-ordering process on the </a:t>
            </a:r>
            <a:r>
              <a:rPr lang="en-US" dirty="0" err="1" smtClean="0">
                <a:latin typeface="Times New Roman" pitchFamily="18" charset="0"/>
              </a:rPr>
              <a:t>Swiggy</a:t>
            </a:r>
            <a:r>
              <a:rPr lang="en-US" dirty="0" smtClean="0">
                <a:latin typeface="Times New Roman" pitchFamily="18" charset="0"/>
              </a:rPr>
              <a:t> platform. </a:t>
            </a:r>
            <a:endParaRPr lang="en-US" dirty="0" smtClean="0">
              <a:latin typeface="Times New Roman" pitchFamily="18" charset="0"/>
            </a:endParaRPr>
          </a:p>
          <a:p>
            <a:pPr algn="just">
              <a:lnSpc>
                <a:spcPct val="220000"/>
              </a:lnSpc>
              <a:buFont typeface="Arial" pitchFamily="34" charset="0"/>
              <a:buChar char="•"/>
            </a:pPr>
            <a:r>
              <a:rPr lang="en-US" dirty="0" smtClean="0">
                <a:latin typeface="Times New Roman" pitchFamily="18" charset="0"/>
              </a:rPr>
              <a:t> </a:t>
            </a:r>
            <a:r>
              <a:rPr lang="en-US" dirty="0" smtClean="0">
                <a:latin typeface="Times New Roman" pitchFamily="18" charset="0"/>
              </a:rPr>
              <a:t>It </a:t>
            </a:r>
            <a:r>
              <a:rPr lang="en-US" dirty="0" smtClean="0">
                <a:latin typeface="Times New Roman" pitchFamily="18" charset="0"/>
              </a:rPr>
              <a:t>automates tasks such as searching for dishes or restaurants, filtering results based on preferences (</a:t>
            </a:r>
            <a:r>
              <a:rPr lang="en-US" dirty="0" err="1" smtClean="0">
                <a:latin typeface="Times New Roman" pitchFamily="18" charset="0"/>
              </a:rPr>
              <a:t>Veg</a:t>
            </a:r>
            <a:r>
              <a:rPr lang="en-US" dirty="0" smtClean="0">
                <a:latin typeface="Times New Roman" pitchFamily="18" charset="0"/>
              </a:rPr>
              <a:t>/Non-</a:t>
            </a:r>
            <a:r>
              <a:rPr lang="en-US" dirty="0" err="1" smtClean="0">
                <a:latin typeface="Times New Roman" pitchFamily="18" charset="0"/>
              </a:rPr>
              <a:t>Veg</a:t>
            </a:r>
            <a:r>
              <a:rPr lang="en-US" dirty="0" smtClean="0">
                <a:latin typeface="Times New Roman" pitchFamily="18" charset="0"/>
              </a:rPr>
              <a:t>), adding items to the cart, updating quantities, and proceeding to checkout. </a:t>
            </a:r>
          </a:p>
          <a:p>
            <a:pPr algn="just">
              <a:lnSpc>
                <a:spcPct val="220000"/>
              </a:lnSpc>
              <a:buFont typeface="Arial" pitchFamily="34" charset="0"/>
              <a:buChar char="•"/>
            </a:pPr>
            <a:r>
              <a:rPr lang="en-US" dirty="0" smtClean="0">
                <a:latin typeface="Times New Roman" pitchFamily="18" charset="0"/>
              </a:rPr>
              <a:t> By </a:t>
            </a:r>
            <a:r>
              <a:rPr lang="en-US" dirty="0" smtClean="0">
                <a:latin typeface="Times New Roman" pitchFamily="18" charset="0"/>
              </a:rPr>
              <a:t>taking user inputs like dish names and dietary preferences, the </a:t>
            </a:r>
            <a:r>
              <a:rPr lang="en-US" dirty="0" err="1" smtClean="0">
                <a:latin typeface="Times New Roman" pitchFamily="18" charset="0"/>
              </a:rPr>
              <a:t>bot</a:t>
            </a:r>
            <a:r>
              <a:rPr lang="en-US" dirty="0" smtClean="0">
                <a:latin typeface="Times New Roman" pitchFamily="18" charset="0"/>
              </a:rPr>
              <a:t> performs all actions with accuracy, consistency, and efficiency. </a:t>
            </a:r>
            <a:endParaRPr lang="en-US" dirty="0" smtClean="0">
              <a:latin typeface="Times New Roman" pitchFamily="18" charset="0"/>
            </a:endParaRPr>
          </a:p>
          <a:p>
            <a:pPr algn="just">
              <a:lnSpc>
                <a:spcPct val="220000"/>
              </a:lnSpc>
              <a:buFont typeface="Arial" pitchFamily="34" charset="0"/>
              <a:buChar char="•"/>
            </a:pPr>
            <a:r>
              <a:rPr lang="en-US" dirty="0" smtClean="0">
                <a:latin typeface="Times New Roman" pitchFamily="18" charset="0"/>
              </a:rPr>
              <a:t>This </a:t>
            </a:r>
            <a:r>
              <a:rPr lang="en-US" dirty="0" smtClean="0">
                <a:latin typeface="Times New Roman" pitchFamily="18" charset="0"/>
              </a:rPr>
              <a:t>system eliminates manual effort, saves time, and enhances user convenience, making it ideal for individuals, families, and businesses seeking to automate repetitive food-ordering tasks. It is a step towards leveraging automation to improve everyday digital experiences.</a:t>
            </a:r>
            <a:endParaRPr lang="en-US" dirty="0">
              <a:latin typeface="Times New Roman" pitchFamily="18" charset="0"/>
            </a:endParaRPr>
          </a:p>
        </p:txBody>
      </p:sp>
    </p:spTree>
    <p:custDataLst>
      <p:tags r:id="rId1"/>
    </p:custDataLst>
    <p:extLst>
      <p:ext uri="{BB962C8B-B14F-4D97-AF65-F5344CB8AC3E}">
        <p14:creationId xmlns:p14="http://schemas.microsoft.com/office/powerpoint/2010/main" xmlns="" val="35484857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312" y="142852"/>
            <a:ext cx="8933688" cy="1143000"/>
          </a:xfrm>
        </p:spPr>
        <p:txBody>
          <a:bodyPr>
            <a:normAutofit fontScale="90000"/>
          </a:bodyPr>
          <a:lstStyle/>
          <a:p>
            <a:r>
              <a:rPr lang="en-US" b="1" u="sng" dirty="0"/>
              <a:t>Advantages of the Proposed </a:t>
            </a:r>
            <a:r>
              <a:rPr lang="en-US" b="1" u="sng" dirty="0" smtClean="0"/>
              <a:t>System:</a:t>
            </a:r>
            <a:endParaRPr lang="en-IN" b="1" u="sng" dirty="0">
              <a:latin typeface="+mj-lt"/>
            </a:endParaRPr>
          </a:p>
        </p:txBody>
      </p:sp>
      <p:sp>
        <p:nvSpPr>
          <p:cNvPr id="3" name="Content Placeholder 2"/>
          <p:cNvSpPr>
            <a:spLocks noGrp="1"/>
          </p:cNvSpPr>
          <p:nvPr>
            <p:ph idx="1"/>
          </p:nvPr>
        </p:nvSpPr>
        <p:spPr>
          <a:xfrm>
            <a:off x="1071538" y="1285860"/>
            <a:ext cx="7498080" cy="4800600"/>
          </a:xfrm>
        </p:spPr>
        <p:txBody>
          <a:bodyPr>
            <a:normAutofit fontScale="47500" lnSpcReduction="20000"/>
          </a:bodyPr>
          <a:lstStyle/>
          <a:p>
            <a:pPr algn="just">
              <a:lnSpc>
                <a:spcPct val="170000"/>
              </a:lnSpc>
            </a:pPr>
            <a:r>
              <a:rPr lang="en-US" b="1" dirty="0" smtClean="0"/>
              <a:t>Time-Saving</a:t>
            </a:r>
            <a:r>
              <a:rPr lang="en-US" dirty="0" smtClean="0"/>
              <a:t>: The </a:t>
            </a:r>
            <a:r>
              <a:rPr lang="en-US" dirty="0" err="1" smtClean="0"/>
              <a:t>bot</a:t>
            </a:r>
            <a:r>
              <a:rPr lang="en-US" dirty="0" smtClean="0"/>
              <a:t> automates the entire food-ordering process, from search to checkout, significantly reducing the time required compared to manual operation.</a:t>
            </a:r>
          </a:p>
          <a:p>
            <a:pPr algn="just">
              <a:lnSpc>
                <a:spcPct val="170000"/>
              </a:lnSpc>
            </a:pPr>
            <a:r>
              <a:rPr lang="en-US" b="1" dirty="0" smtClean="0"/>
              <a:t>Enhanced User Convenience</a:t>
            </a:r>
            <a:r>
              <a:rPr lang="en-US" dirty="0" smtClean="0"/>
              <a:t>: Users can place orders without manually navigating through multiple menus or options, providing a hassle-free experience.</a:t>
            </a:r>
          </a:p>
          <a:p>
            <a:pPr algn="just">
              <a:lnSpc>
                <a:spcPct val="170000"/>
              </a:lnSpc>
            </a:pPr>
            <a:r>
              <a:rPr lang="en-US" b="1" dirty="0" smtClean="0"/>
              <a:t>Accuracy and Error Reduction</a:t>
            </a:r>
            <a:r>
              <a:rPr lang="en-US" dirty="0" smtClean="0"/>
              <a:t>: The system ensures precise execution of tasks such as selecting items, filtering by preferences (e.g., </a:t>
            </a:r>
            <a:r>
              <a:rPr lang="en-US" dirty="0" err="1" smtClean="0"/>
              <a:t>Veg</a:t>
            </a:r>
            <a:r>
              <a:rPr lang="en-US" dirty="0" smtClean="0"/>
              <a:t>/Non-</a:t>
            </a:r>
            <a:r>
              <a:rPr lang="en-US" dirty="0" err="1" smtClean="0"/>
              <a:t>Veg</a:t>
            </a:r>
            <a:r>
              <a:rPr lang="en-US" dirty="0" smtClean="0"/>
              <a:t>), and updating quantities, minimizing human errors.</a:t>
            </a:r>
          </a:p>
          <a:p>
            <a:pPr algn="just">
              <a:lnSpc>
                <a:spcPct val="170000"/>
              </a:lnSpc>
            </a:pPr>
            <a:r>
              <a:rPr lang="en-US" b="1" dirty="0" smtClean="0"/>
              <a:t>Scalability</a:t>
            </a:r>
            <a:r>
              <a:rPr lang="en-US" dirty="0" smtClean="0"/>
              <a:t>: Capable of handling multiple orders or bulk orders efficiently, the </a:t>
            </a:r>
            <a:r>
              <a:rPr lang="en-US" dirty="0" err="1" smtClean="0"/>
              <a:t>bot</a:t>
            </a:r>
            <a:r>
              <a:rPr lang="en-US" dirty="0" smtClean="0"/>
              <a:t> is ideal for both individual users and organizations.</a:t>
            </a:r>
          </a:p>
          <a:p>
            <a:pPr algn="just">
              <a:lnSpc>
                <a:spcPct val="170000"/>
              </a:lnSpc>
            </a:pPr>
            <a:r>
              <a:rPr lang="en-US" b="1" dirty="0" smtClean="0"/>
              <a:t>Personalization</a:t>
            </a:r>
            <a:r>
              <a:rPr lang="en-US" dirty="0" smtClean="0"/>
              <a:t>: Customizable inputs allow users to tailor the </a:t>
            </a:r>
            <a:r>
              <a:rPr lang="en-US" dirty="0" err="1" smtClean="0"/>
              <a:t>bot’s</a:t>
            </a:r>
            <a:r>
              <a:rPr lang="en-US" dirty="0" smtClean="0"/>
              <a:t> actions based on specific requirements like preferred dishes, portion sizes, or dietary needs.</a:t>
            </a:r>
            <a:endParaRPr lang="en-US" dirty="0"/>
          </a:p>
        </p:txBody>
      </p:sp>
    </p:spTree>
    <p:custDataLst>
      <p:tags r:id="rId1"/>
    </p:custDataLst>
    <p:extLst>
      <p:ext uri="{BB962C8B-B14F-4D97-AF65-F5344CB8AC3E}">
        <p14:creationId xmlns:p14="http://schemas.microsoft.com/office/powerpoint/2010/main" xmlns="" val="13323072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2976" y="0"/>
            <a:ext cx="7498080" cy="1143000"/>
          </a:xfrm>
        </p:spPr>
        <p:txBody>
          <a:bodyPr>
            <a:normAutofit/>
          </a:bodyPr>
          <a:lstStyle/>
          <a:p>
            <a:r>
              <a:rPr lang="en-US" b="1" u="sng" dirty="0"/>
              <a:t>Literature </a:t>
            </a:r>
            <a:r>
              <a:rPr lang="en-US" b="1" u="sng" dirty="0" smtClean="0"/>
              <a:t>Survey:</a:t>
            </a:r>
            <a:endParaRPr lang="en-IN" b="1" u="sng" dirty="0">
              <a:latin typeface="+mj-lt"/>
            </a:endParaRPr>
          </a:p>
        </p:txBody>
      </p:sp>
      <p:sp>
        <p:nvSpPr>
          <p:cNvPr id="3" name="Content Placeholder 2"/>
          <p:cNvSpPr>
            <a:spLocks noGrp="1"/>
          </p:cNvSpPr>
          <p:nvPr>
            <p:ph idx="1"/>
          </p:nvPr>
        </p:nvSpPr>
        <p:spPr>
          <a:xfrm>
            <a:off x="1142976" y="1285860"/>
            <a:ext cx="7498080" cy="4800600"/>
          </a:xfrm>
        </p:spPr>
        <p:txBody>
          <a:bodyPr>
            <a:normAutofit fontScale="40000" lnSpcReduction="20000"/>
          </a:bodyPr>
          <a:lstStyle/>
          <a:p>
            <a:pPr algn="just">
              <a:lnSpc>
                <a:spcPct val="120000"/>
              </a:lnSpc>
              <a:buNone/>
            </a:pPr>
            <a:r>
              <a:rPr lang="en-US" sz="3500" dirty="0" smtClean="0">
                <a:latin typeface="Times New Roman" pitchFamily="18" charset="0"/>
              </a:rPr>
              <a:t>RPA is increasingly being utilized across industries for automating repetitive </a:t>
            </a:r>
            <a:r>
              <a:rPr lang="en-US" sz="3500" dirty="0" smtClean="0">
                <a:latin typeface="Times New Roman" pitchFamily="18" charset="0"/>
              </a:rPr>
              <a:t>tasks,</a:t>
            </a:r>
          </a:p>
          <a:p>
            <a:pPr algn="just">
              <a:lnSpc>
                <a:spcPct val="120000"/>
              </a:lnSpc>
              <a:buNone/>
            </a:pPr>
            <a:r>
              <a:rPr lang="en-US" sz="3500" dirty="0" smtClean="0">
                <a:latin typeface="Times New Roman" pitchFamily="18" charset="0"/>
              </a:rPr>
              <a:t>improving </a:t>
            </a:r>
            <a:r>
              <a:rPr lang="en-US" sz="3500" dirty="0" smtClean="0">
                <a:latin typeface="Times New Roman" pitchFamily="18" charset="0"/>
              </a:rPr>
              <a:t>efficiency, and reducing human error. The technology is applied in areas </a:t>
            </a:r>
            <a:r>
              <a:rPr lang="en-US" sz="3500" dirty="0" smtClean="0">
                <a:latin typeface="Times New Roman" pitchFamily="18" charset="0"/>
              </a:rPr>
              <a:t>like</a:t>
            </a:r>
          </a:p>
          <a:p>
            <a:pPr algn="just">
              <a:lnSpc>
                <a:spcPct val="120000"/>
              </a:lnSpc>
              <a:buNone/>
            </a:pPr>
            <a:r>
              <a:rPr lang="en-US" sz="3500" dirty="0" smtClean="0">
                <a:latin typeface="Times New Roman" pitchFamily="18" charset="0"/>
              </a:rPr>
              <a:t>accounting</a:t>
            </a:r>
            <a:r>
              <a:rPr lang="en-US" sz="3500" dirty="0" smtClean="0">
                <a:latin typeface="Times New Roman" pitchFamily="18" charset="0"/>
              </a:rPr>
              <a:t>, customer service, and e-commerce, often replacing manual workflows </a:t>
            </a:r>
            <a:r>
              <a:rPr lang="en-US" sz="3500" dirty="0" smtClean="0">
                <a:latin typeface="Times New Roman" pitchFamily="18" charset="0"/>
              </a:rPr>
              <a:t>with</a:t>
            </a:r>
          </a:p>
          <a:p>
            <a:pPr algn="just">
              <a:lnSpc>
                <a:spcPct val="120000"/>
              </a:lnSpc>
              <a:buNone/>
            </a:pPr>
            <a:r>
              <a:rPr lang="en-US" sz="3500" dirty="0" smtClean="0">
                <a:latin typeface="Times New Roman" pitchFamily="18" charset="0"/>
              </a:rPr>
              <a:t>automated </a:t>
            </a:r>
            <a:r>
              <a:rPr lang="en-US" sz="3500" dirty="0" smtClean="0">
                <a:latin typeface="Times New Roman" pitchFamily="18" charset="0"/>
              </a:rPr>
              <a:t>solutions. It leverages software bots that mimic human interactions on </a:t>
            </a:r>
            <a:endParaRPr lang="en-US" sz="3500" dirty="0" smtClean="0">
              <a:latin typeface="Times New Roman" pitchFamily="18" charset="0"/>
            </a:endParaRPr>
          </a:p>
          <a:p>
            <a:pPr algn="just">
              <a:lnSpc>
                <a:spcPct val="120000"/>
              </a:lnSpc>
              <a:buNone/>
            </a:pPr>
            <a:r>
              <a:rPr lang="en-US" sz="3500" dirty="0" smtClean="0">
                <a:latin typeface="Times New Roman" pitchFamily="18" charset="0"/>
              </a:rPr>
              <a:t>interfaces</a:t>
            </a:r>
            <a:r>
              <a:rPr lang="en-US" sz="3500" dirty="0" smtClean="0">
                <a:latin typeface="Times New Roman" pitchFamily="18" charset="0"/>
              </a:rPr>
              <a:t>, making it a low-code solution for non-technical users</a:t>
            </a:r>
            <a:r>
              <a:rPr lang="en-US" sz="3500" dirty="0" smtClean="0">
                <a:latin typeface="Times New Roman" pitchFamily="18" charset="0"/>
              </a:rPr>
              <a:t>.</a:t>
            </a:r>
          </a:p>
          <a:p>
            <a:pPr algn="just">
              <a:lnSpc>
                <a:spcPct val="120000"/>
              </a:lnSpc>
              <a:buNone/>
            </a:pPr>
            <a:endParaRPr lang="en-US" sz="3500" dirty="0" smtClean="0">
              <a:latin typeface="Times New Roman" pitchFamily="18" charset="0"/>
            </a:endParaRPr>
          </a:p>
          <a:p>
            <a:pPr>
              <a:lnSpc>
                <a:spcPct val="120000"/>
              </a:lnSpc>
              <a:buNone/>
            </a:pPr>
            <a:r>
              <a:rPr lang="en-US" sz="3500" b="1" dirty="0" smtClean="0">
                <a:latin typeface="Times New Roman" pitchFamily="18" charset="0"/>
              </a:rPr>
              <a:t>Advantages </a:t>
            </a:r>
            <a:r>
              <a:rPr lang="en-US" sz="3500" b="1" dirty="0" smtClean="0">
                <a:latin typeface="Times New Roman" pitchFamily="18" charset="0"/>
              </a:rPr>
              <a:t>Identified:</a:t>
            </a:r>
            <a:endParaRPr lang="en-US" sz="3500" b="1" dirty="0" smtClean="0">
              <a:latin typeface="Times New Roman" pitchFamily="18" charset="0"/>
            </a:endParaRPr>
          </a:p>
          <a:p>
            <a:pPr>
              <a:lnSpc>
                <a:spcPct val="120000"/>
              </a:lnSpc>
            </a:pPr>
            <a:r>
              <a:rPr lang="en-US" sz="3500" b="1" dirty="0" smtClean="0">
                <a:latin typeface="Times New Roman" pitchFamily="18" charset="0"/>
              </a:rPr>
              <a:t>Increased Efficiency</a:t>
            </a:r>
            <a:r>
              <a:rPr lang="en-US" sz="3500" dirty="0" smtClean="0">
                <a:latin typeface="Times New Roman" pitchFamily="18" charset="0"/>
              </a:rPr>
              <a:t>: RPA tools operate 24/7 and execute tasks faster than humans, leading to significant time savings.</a:t>
            </a:r>
          </a:p>
          <a:p>
            <a:pPr>
              <a:lnSpc>
                <a:spcPct val="120000"/>
              </a:lnSpc>
            </a:pPr>
            <a:r>
              <a:rPr lang="en-US" sz="3500" b="1" dirty="0" smtClean="0">
                <a:latin typeface="Times New Roman" pitchFamily="18" charset="0"/>
              </a:rPr>
              <a:t>Error Reduction</a:t>
            </a:r>
            <a:r>
              <a:rPr lang="en-US" sz="3500" dirty="0" smtClean="0">
                <a:latin typeface="Times New Roman" pitchFamily="18" charset="0"/>
              </a:rPr>
              <a:t>: Automating repetitive tasks minimizes the risk of human error, improving accuracy.</a:t>
            </a:r>
          </a:p>
          <a:p>
            <a:pPr>
              <a:lnSpc>
                <a:spcPct val="120000"/>
              </a:lnSpc>
            </a:pPr>
            <a:r>
              <a:rPr lang="en-US" sz="3500" b="1" dirty="0" smtClean="0">
                <a:latin typeface="Times New Roman" pitchFamily="18" charset="0"/>
              </a:rPr>
              <a:t>Scalability</a:t>
            </a:r>
            <a:r>
              <a:rPr lang="en-US" sz="3500" dirty="0" smtClean="0">
                <a:latin typeface="Times New Roman" pitchFamily="18" charset="0"/>
              </a:rPr>
              <a:t>: RPA bots can scale up operations during peak times (e.g., processing bulk orders during festive sales).</a:t>
            </a:r>
          </a:p>
          <a:p>
            <a:pPr>
              <a:lnSpc>
                <a:spcPct val="120000"/>
              </a:lnSpc>
            </a:pPr>
            <a:r>
              <a:rPr lang="en-US" sz="3500" b="1" dirty="0" smtClean="0">
                <a:latin typeface="Times New Roman" pitchFamily="18" charset="0"/>
              </a:rPr>
              <a:t>Cost Savings</a:t>
            </a:r>
            <a:r>
              <a:rPr lang="en-US" sz="3500" dirty="0" smtClean="0">
                <a:latin typeface="Times New Roman" pitchFamily="18" charset="0"/>
              </a:rPr>
              <a:t>: Once deployed, RPA reduces operational costs by minimizing reliance on manual labor.</a:t>
            </a:r>
          </a:p>
          <a:p>
            <a:pPr>
              <a:lnSpc>
                <a:spcPct val="120000"/>
              </a:lnSpc>
            </a:pPr>
            <a:r>
              <a:rPr lang="en-US" sz="3500" b="1" dirty="0" smtClean="0">
                <a:latin typeface="Times New Roman" pitchFamily="18" charset="0"/>
              </a:rPr>
              <a:t>Integration Without Infrastructure Changes</a:t>
            </a:r>
            <a:r>
              <a:rPr lang="en-US" sz="3500" dirty="0" smtClean="0">
                <a:latin typeface="Times New Roman" pitchFamily="18" charset="0"/>
              </a:rPr>
              <a:t>: RPA can be implemented without altering existing IT infrastructure.</a:t>
            </a:r>
          </a:p>
          <a:p>
            <a:pPr>
              <a:buNone/>
            </a:pPr>
            <a:endParaRPr lang="en-US" dirty="0" smtClean="0"/>
          </a:p>
          <a:p>
            <a:endParaRPr lang="en-US" dirty="0"/>
          </a:p>
        </p:txBody>
      </p:sp>
    </p:spTree>
    <p:custDataLst>
      <p:tags r:id="rId1"/>
    </p:custDataLst>
    <p:extLst>
      <p:ext uri="{BB962C8B-B14F-4D97-AF65-F5344CB8AC3E}">
        <p14:creationId xmlns:p14="http://schemas.microsoft.com/office/powerpoint/2010/main" xmlns="" val="31064302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0"/>
            <a:ext cx="7498080" cy="1143000"/>
          </a:xfrm>
        </p:spPr>
        <p:txBody>
          <a:bodyPr/>
          <a:lstStyle/>
          <a:p>
            <a:r>
              <a:rPr lang="en-IN" b="1" u="sng" dirty="0" smtClean="0"/>
              <a:t>Literature Survey:</a:t>
            </a:r>
            <a:endParaRPr lang="en-US" b="1" u="sng" dirty="0"/>
          </a:p>
        </p:txBody>
      </p:sp>
      <p:sp>
        <p:nvSpPr>
          <p:cNvPr id="3" name="Content Placeholder 2"/>
          <p:cNvSpPr>
            <a:spLocks noGrp="1"/>
          </p:cNvSpPr>
          <p:nvPr>
            <p:ph idx="1"/>
          </p:nvPr>
        </p:nvSpPr>
        <p:spPr>
          <a:xfrm>
            <a:off x="1142976" y="1071546"/>
            <a:ext cx="7498080" cy="4800600"/>
          </a:xfrm>
        </p:spPr>
        <p:txBody>
          <a:bodyPr>
            <a:normAutofit fontScale="55000" lnSpcReduction="20000"/>
          </a:bodyPr>
          <a:lstStyle/>
          <a:p>
            <a:pPr algn="just">
              <a:lnSpc>
                <a:spcPct val="170000"/>
              </a:lnSpc>
              <a:buNone/>
            </a:pPr>
            <a:r>
              <a:rPr lang="en-US" b="1" dirty="0" smtClean="0"/>
              <a:t>Disadvantages:</a:t>
            </a:r>
            <a:endParaRPr lang="en-US" b="1" dirty="0" smtClean="0"/>
          </a:p>
          <a:p>
            <a:pPr algn="just">
              <a:lnSpc>
                <a:spcPct val="170000"/>
              </a:lnSpc>
            </a:pPr>
            <a:r>
              <a:rPr lang="en-US" b="1" dirty="0" smtClean="0"/>
              <a:t>Fragility in Changing Environments</a:t>
            </a:r>
            <a:r>
              <a:rPr lang="en-US" dirty="0" smtClean="0"/>
              <a:t>: Bots relying on UI elements are sensitive to changes in web page design, requiring frequent updates.</a:t>
            </a:r>
          </a:p>
          <a:p>
            <a:pPr algn="just">
              <a:lnSpc>
                <a:spcPct val="170000"/>
              </a:lnSpc>
            </a:pPr>
            <a:r>
              <a:rPr lang="en-US" b="1" dirty="0" smtClean="0"/>
              <a:t>Implementation Challenges</a:t>
            </a:r>
            <a:r>
              <a:rPr lang="en-US" dirty="0" smtClean="0"/>
              <a:t>: Setting up RPA requires careful planning to identify processes suitable for automation.</a:t>
            </a:r>
          </a:p>
          <a:p>
            <a:pPr algn="just">
              <a:lnSpc>
                <a:spcPct val="170000"/>
              </a:lnSpc>
            </a:pPr>
            <a:r>
              <a:rPr lang="en-US" b="1" dirty="0" smtClean="0"/>
              <a:t>Limited Learning Capabilities</a:t>
            </a:r>
            <a:r>
              <a:rPr lang="en-US" dirty="0" smtClean="0"/>
              <a:t>: Traditional RPA lacks adaptability unless paired with AI or machine learning.</a:t>
            </a:r>
          </a:p>
          <a:p>
            <a:pPr algn="just">
              <a:lnSpc>
                <a:spcPct val="170000"/>
              </a:lnSpc>
            </a:pPr>
            <a:r>
              <a:rPr lang="en-US" b="1" dirty="0" smtClean="0"/>
              <a:t>High Initial Investment</a:t>
            </a:r>
            <a:r>
              <a:rPr lang="en-US" dirty="0" smtClean="0"/>
              <a:t>: While RPA leads to savings over time, the initial setup can be costly for smaller businesses.</a:t>
            </a:r>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0"/>
            <a:ext cx="7498080" cy="1143000"/>
          </a:xfrm>
        </p:spPr>
        <p:txBody>
          <a:bodyPr>
            <a:normAutofit/>
          </a:bodyPr>
          <a:lstStyle/>
          <a:p>
            <a:r>
              <a:rPr lang="en-US" b="1" u="sng" dirty="0" smtClean="0"/>
              <a:t>Main </a:t>
            </a:r>
            <a:r>
              <a:rPr lang="en-US" b="1" u="sng" dirty="0" smtClean="0"/>
              <a:t>Objective:</a:t>
            </a:r>
            <a:endParaRPr lang="en-IN" b="1" u="sng" dirty="0">
              <a:latin typeface="+mj-lt"/>
            </a:endParaRPr>
          </a:p>
        </p:txBody>
      </p:sp>
      <p:sp>
        <p:nvSpPr>
          <p:cNvPr id="3" name="Content Placeholder 2"/>
          <p:cNvSpPr>
            <a:spLocks noGrp="1"/>
          </p:cNvSpPr>
          <p:nvPr>
            <p:ph idx="1"/>
          </p:nvPr>
        </p:nvSpPr>
        <p:spPr>
          <a:xfrm>
            <a:off x="1142976" y="1000108"/>
            <a:ext cx="7715304" cy="4800600"/>
          </a:xfrm>
        </p:spPr>
        <p:txBody>
          <a:bodyPr>
            <a:noAutofit/>
          </a:bodyPr>
          <a:lstStyle/>
          <a:p>
            <a:pPr algn="just">
              <a:lnSpc>
                <a:spcPct val="150000"/>
              </a:lnSpc>
              <a:buNone/>
            </a:pPr>
            <a:r>
              <a:rPr lang="en-US" sz="1500" dirty="0" smtClean="0"/>
              <a:t>The primary objective of the </a:t>
            </a:r>
            <a:r>
              <a:rPr lang="en-US" sz="1500" dirty="0" err="1" smtClean="0"/>
              <a:t>Swiggy</a:t>
            </a:r>
            <a:r>
              <a:rPr lang="en-US" sz="1500" dirty="0" smtClean="0"/>
              <a:t> Ordering </a:t>
            </a:r>
            <a:r>
              <a:rPr lang="en-US" sz="1500" dirty="0" smtClean="0"/>
              <a:t> </a:t>
            </a:r>
            <a:r>
              <a:rPr lang="en-US" sz="1500" dirty="0" err="1" smtClean="0"/>
              <a:t>Bot</a:t>
            </a:r>
            <a:r>
              <a:rPr lang="en-US" sz="1500" dirty="0" smtClean="0"/>
              <a:t> project </a:t>
            </a:r>
            <a:r>
              <a:rPr lang="en-US" sz="1500" dirty="0" smtClean="0"/>
              <a:t>is </a:t>
            </a:r>
            <a:r>
              <a:rPr lang="en-US" sz="1500" dirty="0" smtClean="0"/>
              <a:t>to </a:t>
            </a:r>
            <a:r>
              <a:rPr lang="en-US" sz="1500" b="1" dirty="0" smtClean="0"/>
              <a:t>automate the food ordering</a:t>
            </a:r>
          </a:p>
          <a:p>
            <a:pPr algn="just">
              <a:lnSpc>
                <a:spcPct val="150000"/>
              </a:lnSpc>
              <a:buNone/>
            </a:pPr>
            <a:r>
              <a:rPr lang="en-US" sz="1500" b="1" dirty="0" smtClean="0"/>
              <a:t>process </a:t>
            </a:r>
            <a:r>
              <a:rPr lang="en-US" sz="1500" b="1" dirty="0" smtClean="0"/>
              <a:t>on the </a:t>
            </a:r>
            <a:r>
              <a:rPr lang="en-US" sz="1500" b="1" dirty="0" err="1" smtClean="0"/>
              <a:t>Swiggy</a:t>
            </a:r>
            <a:r>
              <a:rPr lang="en-US" sz="1500" b="1" dirty="0" smtClean="0"/>
              <a:t> </a:t>
            </a:r>
            <a:r>
              <a:rPr lang="en-US" sz="1500" b="1" dirty="0" smtClean="0"/>
              <a:t>platform </a:t>
            </a:r>
            <a:r>
              <a:rPr lang="en-US" sz="1500" dirty="0" smtClean="0"/>
              <a:t>by </a:t>
            </a:r>
            <a:r>
              <a:rPr lang="en-US" sz="1500" dirty="0" smtClean="0"/>
              <a:t>leveraging Robotic Process Automation (RPA). </a:t>
            </a:r>
            <a:endParaRPr lang="en-US" sz="1500" dirty="0" smtClean="0"/>
          </a:p>
          <a:p>
            <a:pPr algn="just">
              <a:lnSpc>
                <a:spcPct val="150000"/>
              </a:lnSpc>
              <a:buNone/>
            </a:pPr>
            <a:r>
              <a:rPr lang="en-US" sz="1500" dirty="0" smtClean="0"/>
              <a:t>This </a:t>
            </a:r>
            <a:r>
              <a:rPr lang="en-US" sz="1500" dirty="0" smtClean="0"/>
              <a:t>system is designed to:</a:t>
            </a:r>
          </a:p>
          <a:p>
            <a:pPr algn="just">
              <a:lnSpc>
                <a:spcPct val="150000"/>
              </a:lnSpc>
            </a:pPr>
            <a:r>
              <a:rPr lang="en-US" sz="1500" dirty="0" smtClean="0"/>
              <a:t>Simplify the ordering process by automating repetitive tasks such as searching for restaurants, selecting dishes, filtering by preferences (</a:t>
            </a:r>
            <a:r>
              <a:rPr lang="en-US" sz="1500" dirty="0" err="1" smtClean="0"/>
              <a:t>Veg</a:t>
            </a:r>
            <a:r>
              <a:rPr lang="en-US" sz="1500" dirty="0" smtClean="0"/>
              <a:t>/Non-</a:t>
            </a:r>
            <a:r>
              <a:rPr lang="en-US" sz="1500" dirty="0" err="1" smtClean="0"/>
              <a:t>Veg</a:t>
            </a:r>
            <a:r>
              <a:rPr lang="en-US" sz="1500" dirty="0" smtClean="0"/>
              <a:t>), and placing orders.</a:t>
            </a:r>
          </a:p>
          <a:p>
            <a:pPr algn="just">
              <a:lnSpc>
                <a:spcPct val="150000"/>
              </a:lnSpc>
            </a:pPr>
            <a:r>
              <a:rPr lang="en-US" sz="1500" dirty="0" smtClean="0"/>
              <a:t>Enhance user convenience by minimizing manual input and effort while ensuring accuracy and efficiency.</a:t>
            </a:r>
          </a:p>
          <a:p>
            <a:pPr algn="just">
              <a:lnSpc>
                <a:spcPct val="150000"/>
              </a:lnSpc>
            </a:pPr>
            <a:r>
              <a:rPr lang="en-US" sz="1500" dirty="0" smtClean="0"/>
              <a:t>Provide a scalable and reliable solution for handling multiple or bulk orders seamlessly.</a:t>
            </a:r>
          </a:p>
          <a:p>
            <a:pPr algn="just">
              <a:lnSpc>
                <a:spcPct val="150000"/>
              </a:lnSpc>
            </a:pPr>
            <a:r>
              <a:rPr lang="en-US" sz="1500" dirty="0" smtClean="0"/>
              <a:t>Save time and reduce errors by automating end-to-end operations, from browsing menus to checking out.</a:t>
            </a:r>
          </a:p>
          <a:p>
            <a:pPr algn="just">
              <a:lnSpc>
                <a:spcPct val="150000"/>
              </a:lnSpc>
            </a:pPr>
            <a:r>
              <a:rPr lang="en-US" sz="1500" dirty="0" smtClean="0"/>
              <a:t>Offer a customizable experience where users can define preferences like dietary restrictions or quantity requirements, ensuring a tailored solution.</a:t>
            </a:r>
          </a:p>
          <a:p>
            <a:pPr>
              <a:buNone/>
            </a:pPr>
            <a:endParaRPr lang="en-US" sz="1400" dirty="0"/>
          </a:p>
        </p:txBody>
      </p:sp>
    </p:spTree>
    <p:custDataLst>
      <p:tags r:id="rId1"/>
    </p:custDataLst>
    <p:extLst>
      <p:ext uri="{BB962C8B-B14F-4D97-AF65-F5344CB8AC3E}">
        <p14:creationId xmlns:p14="http://schemas.microsoft.com/office/powerpoint/2010/main" xmlns="" val="40945783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852" y="0"/>
            <a:ext cx="7498080" cy="1143000"/>
          </a:xfrm>
        </p:spPr>
        <p:txBody>
          <a:bodyPr>
            <a:normAutofit/>
          </a:bodyPr>
          <a:lstStyle/>
          <a:p>
            <a:r>
              <a:rPr lang="en-US" b="1" u="sng" dirty="0" smtClean="0"/>
              <a:t>Architecture:</a:t>
            </a:r>
            <a:endParaRPr lang="en-IN" b="1" u="sng" dirty="0">
              <a:latin typeface="+mj-lt"/>
            </a:endParaRPr>
          </a:p>
        </p:txBody>
      </p:sp>
      <p:pic>
        <p:nvPicPr>
          <p:cNvPr id="4" name="Content Placeholder 3"/>
          <p:cNvPicPr>
            <a:picLocks noGrp="1"/>
          </p:cNvPicPr>
          <p:nvPr>
            <p:ph idx="1"/>
          </p:nvPr>
        </p:nvPicPr>
        <p:blipFill>
          <a:blip r:embed="rId4"/>
          <a:srcRect/>
          <a:stretch>
            <a:fillRect/>
          </a:stretch>
        </p:blipFill>
        <p:spPr bwMode="auto">
          <a:xfrm>
            <a:off x="1816259" y="1225868"/>
            <a:ext cx="6294120" cy="477774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xmlns="" val="37622339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100" y="0"/>
            <a:ext cx="7498080" cy="1143000"/>
          </a:xfrm>
        </p:spPr>
        <p:txBody>
          <a:bodyPr>
            <a:normAutofit/>
          </a:bodyPr>
          <a:lstStyle/>
          <a:p>
            <a:r>
              <a:rPr lang="en-US" b="1" u="sng" dirty="0"/>
              <a:t>System </a:t>
            </a:r>
            <a:r>
              <a:rPr lang="en-US" b="1" u="sng" dirty="0" smtClean="0"/>
              <a:t>Requirements:</a:t>
            </a:r>
            <a:endParaRPr lang="en-IN" b="1" u="sng" dirty="0">
              <a:latin typeface="+mj-lt"/>
            </a:endParaRPr>
          </a:p>
        </p:txBody>
      </p:sp>
      <p:sp>
        <p:nvSpPr>
          <p:cNvPr id="5" name="Content Placeholder 4"/>
          <p:cNvSpPr>
            <a:spLocks noGrp="1"/>
          </p:cNvSpPr>
          <p:nvPr>
            <p:ph idx="1"/>
          </p:nvPr>
        </p:nvSpPr>
        <p:spPr>
          <a:xfrm>
            <a:off x="1142976" y="1142984"/>
            <a:ext cx="7498080" cy="5072098"/>
          </a:xfrm>
        </p:spPr>
        <p:txBody>
          <a:bodyPr>
            <a:noAutofit/>
          </a:bodyPr>
          <a:lstStyle/>
          <a:p>
            <a:pPr>
              <a:lnSpc>
                <a:spcPct val="120000"/>
              </a:lnSpc>
              <a:buNone/>
            </a:pPr>
            <a:r>
              <a:rPr lang="en-US" sz="1300" b="1" dirty="0" smtClean="0"/>
              <a:t>Hardware </a:t>
            </a:r>
            <a:r>
              <a:rPr lang="en-US" sz="1300" b="1" dirty="0" smtClean="0"/>
              <a:t>Requirements:</a:t>
            </a:r>
            <a:endParaRPr lang="en-US" sz="1300" b="1" dirty="0" smtClean="0"/>
          </a:p>
          <a:p>
            <a:pPr>
              <a:lnSpc>
                <a:spcPct val="120000"/>
              </a:lnSpc>
            </a:pPr>
            <a:r>
              <a:rPr lang="en-US" sz="1300" b="1" dirty="0" smtClean="0"/>
              <a:t>Processor</a:t>
            </a:r>
            <a:r>
              <a:rPr lang="en-US" sz="1300" dirty="0" smtClean="0"/>
              <a:t>:</a:t>
            </a:r>
          </a:p>
          <a:p>
            <a:pPr lvl="1">
              <a:lnSpc>
                <a:spcPct val="120000"/>
              </a:lnSpc>
            </a:pPr>
            <a:r>
              <a:rPr lang="en-US" sz="1300" dirty="0" smtClean="0"/>
              <a:t>Minimum: Intel Core i3 or equivalent.</a:t>
            </a:r>
          </a:p>
          <a:p>
            <a:pPr lvl="1">
              <a:lnSpc>
                <a:spcPct val="120000"/>
              </a:lnSpc>
            </a:pPr>
            <a:r>
              <a:rPr lang="en-US" sz="1300" dirty="0" smtClean="0"/>
              <a:t>Recommended: Intel Core i5/i7 or equivalent for faster performance during automation tasks.</a:t>
            </a:r>
          </a:p>
          <a:p>
            <a:pPr>
              <a:lnSpc>
                <a:spcPct val="120000"/>
              </a:lnSpc>
            </a:pPr>
            <a:r>
              <a:rPr lang="en-US" sz="1300" b="1" dirty="0" smtClean="0"/>
              <a:t>RAM</a:t>
            </a:r>
            <a:r>
              <a:rPr lang="en-US" sz="1300" dirty="0" smtClean="0"/>
              <a:t>:</a:t>
            </a:r>
          </a:p>
          <a:p>
            <a:pPr lvl="1">
              <a:lnSpc>
                <a:spcPct val="120000"/>
              </a:lnSpc>
            </a:pPr>
            <a:r>
              <a:rPr lang="en-US" sz="1300" dirty="0" smtClean="0"/>
              <a:t>Minimum: 4 GB.</a:t>
            </a:r>
          </a:p>
          <a:p>
            <a:pPr lvl="1">
              <a:lnSpc>
                <a:spcPct val="120000"/>
              </a:lnSpc>
            </a:pPr>
            <a:r>
              <a:rPr lang="en-US" sz="1300" dirty="0" smtClean="0"/>
              <a:t>Recommended: 8 GB or more to handle multitasking and smooth execution of RPA tools.</a:t>
            </a:r>
          </a:p>
          <a:p>
            <a:pPr>
              <a:lnSpc>
                <a:spcPct val="120000"/>
              </a:lnSpc>
            </a:pPr>
            <a:r>
              <a:rPr lang="en-US" sz="1300" b="1" dirty="0" smtClean="0"/>
              <a:t>Storage</a:t>
            </a:r>
            <a:r>
              <a:rPr lang="en-US" sz="1300" dirty="0" smtClean="0"/>
              <a:t>:</a:t>
            </a:r>
          </a:p>
          <a:p>
            <a:pPr lvl="1">
              <a:lnSpc>
                <a:spcPct val="120000"/>
              </a:lnSpc>
            </a:pPr>
            <a:r>
              <a:rPr lang="en-US" sz="1300" dirty="0" smtClean="0"/>
              <a:t>Minimum: 10 GB free disk space for software, logs, and temporary files.</a:t>
            </a:r>
          </a:p>
          <a:p>
            <a:pPr lvl="1">
              <a:lnSpc>
                <a:spcPct val="120000"/>
              </a:lnSpc>
            </a:pPr>
            <a:r>
              <a:rPr lang="en-US" sz="1300" dirty="0" smtClean="0"/>
              <a:t>Recommended: Solid-State Drive (SSD) for better performance.</a:t>
            </a:r>
          </a:p>
          <a:p>
            <a:pPr>
              <a:lnSpc>
                <a:spcPct val="120000"/>
              </a:lnSpc>
            </a:pPr>
            <a:r>
              <a:rPr lang="en-US" sz="1300" b="1" dirty="0" err="1" smtClean="0"/>
              <a:t>Input/Output</a:t>
            </a:r>
            <a:r>
              <a:rPr lang="en-US" sz="1300" b="1" dirty="0" smtClean="0"/>
              <a:t> Devices</a:t>
            </a:r>
            <a:r>
              <a:rPr lang="en-US" sz="1300" dirty="0" smtClean="0"/>
              <a:t>:</a:t>
            </a:r>
          </a:p>
          <a:p>
            <a:pPr lvl="1">
              <a:lnSpc>
                <a:spcPct val="120000"/>
              </a:lnSpc>
            </a:pPr>
            <a:r>
              <a:rPr lang="en-US" sz="1300" dirty="0" smtClean="0"/>
              <a:t>Standard keyboard and mouse for </a:t>
            </a:r>
            <a:r>
              <a:rPr lang="en-US" sz="1300" dirty="0" err="1" smtClean="0"/>
              <a:t>bot</a:t>
            </a:r>
            <a:r>
              <a:rPr lang="en-US" sz="1300" dirty="0" smtClean="0"/>
              <a:t> setup.</a:t>
            </a:r>
          </a:p>
          <a:p>
            <a:pPr lvl="1">
              <a:lnSpc>
                <a:spcPct val="120000"/>
              </a:lnSpc>
            </a:pPr>
            <a:r>
              <a:rPr lang="en-US" sz="1300" dirty="0" smtClean="0"/>
              <a:t>Internet connection (Broadband/Wi-Fi) with good speed (minimum 10 Mbps) for accessing the </a:t>
            </a:r>
            <a:r>
              <a:rPr lang="en-US" sz="1300" dirty="0" err="1" smtClean="0"/>
              <a:t>Swiggy</a:t>
            </a:r>
            <a:r>
              <a:rPr lang="en-US" sz="1300" dirty="0" smtClean="0"/>
              <a:t>  </a:t>
            </a:r>
            <a:r>
              <a:rPr lang="en-US" sz="1300" dirty="0" smtClean="0"/>
              <a:t>platform.</a:t>
            </a:r>
          </a:p>
          <a:p>
            <a:pPr>
              <a:lnSpc>
                <a:spcPct val="120000"/>
              </a:lnSpc>
            </a:pPr>
            <a:r>
              <a:rPr lang="en-US" sz="1300" b="1" dirty="0" smtClean="0"/>
              <a:t>Operating System</a:t>
            </a:r>
            <a:r>
              <a:rPr lang="en-US" sz="1300" dirty="0" smtClean="0"/>
              <a:t>:</a:t>
            </a:r>
          </a:p>
          <a:p>
            <a:pPr lvl="1">
              <a:lnSpc>
                <a:spcPct val="120000"/>
              </a:lnSpc>
            </a:pPr>
            <a:r>
              <a:rPr lang="en-US" sz="1300" dirty="0" smtClean="0"/>
              <a:t>Windows 10 (64-bit) or higher.</a:t>
            </a:r>
          </a:p>
          <a:p>
            <a:pPr lvl="1">
              <a:lnSpc>
                <a:spcPct val="120000"/>
              </a:lnSpc>
            </a:pPr>
            <a:r>
              <a:rPr lang="en-US" sz="1300" dirty="0" err="1" smtClean="0"/>
              <a:t>macOS</a:t>
            </a:r>
            <a:r>
              <a:rPr lang="en-US" sz="1300" dirty="0" smtClean="0"/>
              <a:t> (if using cross-platform RPA tools).</a:t>
            </a:r>
          </a:p>
          <a:p>
            <a:pPr>
              <a:buNone/>
            </a:pPr>
            <a:endParaRPr lang="en-US" sz="1300" dirty="0"/>
          </a:p>
        </p:txBody>
      </p:sp>
    </p:spTree>
    <p:custDataLst>
      <p:tags r:id="rId1"/>
    </p:custDataLst>
    <p:extLst>
      <p:ext uri="{BB962C8B-B14F-4D97-AF65-F5344CB8AC3E}">
        <p14:creationId xmlns:p14="http://schemas.microsoft.com/office/powerpoint/2010/main" xmlns="" val="12252271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414" y="0"/>
            <a:ext cx="7498080" cy="1143000"/>
          </a:xfrm>
        </p:spPr>
        <p:txBody>
          <a:bodyPr/>
          <a:lstStyle/>
          <a:p>
            <a:r>
              <a:rPr lang="en-IN" b="1" u="sng" dirty="0" smtClean="0"/>
              <a:t>System Requirements:</a:t>
            </a:r>
            <a:endParaRPr lang="en-US" b="1" u="sng" dirty="0"/>
          </a:p>
        </p:txBody>
      </p:sp>
      <p:sp>
        <p:nvSpPr>
          <p:cNvPr id="3" name="Content Placeholder 2"/>
          <p:cNvSpPr>
            <a:spLocks noGrp="1"/>
          </p:cNvSpPr>
          <p:nvPr>
            <p:ph idx="1"/>
          </p:nvPr>
        </p:nvSpPr>
        <p:spPr>
          <a:xfrm>
            <a:off x="1142976" y="1142984"/>
            <a:ext cx="7498080" cy="4800600"/>
          </a:xfrm>
        </p:spPr>
        <p:txBody>
          <a:bodyPr>
            <a:normAutofit fontScale="55000" lnSpcReduction="20000"/>
          </a:bodyPr>
          <a:lstStyle/>
          <a:p>
            <a:pPr algn="just">
              <a:lnSpc>
                <a:spcPct val="220000"/>
              </a:lnSpc>
              <a:buNone/>
            </a:pPr>
            <a:r>
              <a:rPr lang="en-US" b="1" dirty="0" smtClean="0"/>
              <a:t>Software </a:t>
            </a:r>
            <a:r>
              <a:rPr lang="en-US" b="1" dirty="0" smtClean="0"/>
              <a:t>Requirements:</a:t>
            </a:r>
            <a:endParaRPr lang="en-US" b="1" dirty="0" smtClean="0"/>
          </a:p>
          <a:p>
            <a:pPr algn="just">
              <a:lnSpc>
                <a:spcPct val="220000"/>
              </a:lnSpc>
            </a:pPr>
            <a:r>
              <a:rPr lang="en-US" b="1" dirty="0" smtClean="0"/>
              <a:t>Operating System</a:t>
            </a:r>
            <a:r>
              <a:rPr lang="en-US" dirty="0" smtClean="0"/>
              <a:t>:</a:t>
            </a:r>
          </a:p>
          <a:p>
            <a:pPr lvl="1" algn="just">
              <a:lnSpc>
                <a:spcPct val="220000"/>
              </a:lnSpc>
            </a:pPr>
            <a:r>
              <a:rPr lang="en-US" dirty="0" smtClean="0"/>
              <a:t>Windows 10/11 or </a:t>
            </a:r>
            <a:r>
              <a:rPr lang="en-US" dirty="0" err="1" smtClean="0"/>
              <a:t>macOS</a:t>
            </a:r>
            <a:r>
              <a:rPr lang="en-US" dirty="0" smtClean="0"/>
              <a:t> for compatibility with RPA tools.</a:t>
            </a:r>
          </a:p>
          <a:p>
            <a:pPr algn="just">
              <a:lnSpc>
                <a:spcPct val="220000"/>
              </a:lnSpc>
            </a:pPr>
            <a:r>
              <a:rPr lang="en-US" b="1" dirty="0" smtClean="0"/>
              <a:t>RPA Tool</a:t>
            </a:r>
            <a:r>
              <a:rPr lang="en-US" dirty="0" smtClean="0"/>
              <a:t>:</a:t>
            </a:r>
          </a:p>
          <a:p>
            <a:pPr lvl="1" algn="just">
              <a:lnSpc>
                <a:spcPct val="220000"/>
              </a:lnSpc>
            </a:pPr>
            <a:r>
              <a:rPr lang="en-US" dirty="0" err="1" smtClean="0"/>
              <a:t>UiPath</a:t>
            </a:r>
            <a:r>
              <a:rPr lang="en-US" dirty="0" smtClean="0"/>
              <a:t> (preferred), Automation Anywhere, or Blue Prism for </a:t>
            </a:r>
            <a:r>
              <a:rPr lang="en-US" dirty="0" err="1" smtClean="0"/>
              <a:t>bot</a:t>
            </a:r>
            <a:r>
              <a:rPr lang="en-US" dirty="0" smtClean="0"/>
              <a:t> development and automation.</a:t>
            </a:r>
          </a:p>
          <a:p>
            <a:pPr algn="just">
              <a:lnSpc>
                <a:spcPct val="220000"/>
              </a:lnSpc>
            </a:pPr>
            <a:r>
              <a:rPr lang="en-US" b="1" dirty="0" smtClean="0"/>
              <a:t>Web Browser</a:t>
            </a:r>
            <a:r>
              <a:rPr lang="en-US" dirty="0" smtClean="0"/>
              <a:t>:</a:t>
            </a:r>
          </a:p>
          <a:p>
            <a:pPr lvl="1" algn="just">
              <a:lnSpc>
                <a:spcPct val="220000"/>
              </a:lnSpc>
            </a:pPr>
            <a:r>
              <a:rPr lang="en-US" dirty="0" smtClean="0"/>
              <a:t>Google Chrome (latest version), Firefox, or Microsoft Edge for </a:t>
            </a:r>
            <a:r>
              <a:rPr lang="en-US" dirty="0" err="1" smtClean="0"/>
              <a:t>Swiggy</a:t>
            </a:r>
            <a:r>
              <a:rPr lang="en-US" dirty="0" smtClean="0"/>
              <a:t> interaction.</a:t>
            </a:r>
          </a:p>
          <a:p>
            <a:endParaRPr lang="en-US" dirty="0"/>
          </a:p>
        </p:txBody>
      </p:sp>
      <p:sp>
        <p:nvSpPr>
          <p:cNvPr id="4" name="Footer Placeholder 3"/>
          <p:cNvSpPr>
            <a:spLocks noGrp="1"/>
          </p:cNvSpPr>
          <p:nvPr>
            <p:ph type="ftr" sz="quarter" idx="11"/>
          </p:nvPr>
        </p:nvSpPr>
        <p:spPr/>
        <p:txBody>
          <a:bodyPr/>
          <a:lstStyle/>
          <a:p>
            <a:endParaRPr kumimoji="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100" y="0"/>
            <a:ext cx="7498080" cy="1143000"/>
          </a:xfrm>
        </p:spPr>
        <p:txBody>
          <a:bodyPr>
            <a:normAutofit/>
          </a:bodyPr>
          <a:lstStyle/>
          <a:p>
            <a:r>
              <a:rPr lang="en-US" b="1" u="sng" dirty="0"/>
              <a:t>Functional </a:t>
            </a:r>
            <a:r>
              <a:rPr lang="en-US" b="1" u="sng" dirty="0" smtClean="0"/>
              <a:t>Description :</a:t>
            </a:r>
            <a:endParaRPr lang="en-IN" b="1" u="sng" dirty="0">
              <a:latin typeface="+mj-lt"/>
            </a:endParaRPr>
          </a:p>
        </p:txBody>
      </p:sp>
      <p:pic>
        <p:nvPicPr>
          <p:cNvPr id="1026" name="Picture 2"/>
          <p:cNvPicPr>
            <a:picLocks noGrp="1" noChangeAspect="1" noChangeArrowheads="1"/>
          </p:cNvPicPr>
          <p:nvPr>
            <p:ph idx="1"/>
          </p:nvPr>
        </p:nvPicPr>
        <p:blipFill>
          <a:blip r:embed="rId4" cstate="print"/>
          <a:srcRect/>
          <a:stretch>
            <a:fillRect/>
          </a:stretch>
        </p:blipFill>
        <p:spPr bwMode="auto">
          <a:xfrm>
            <a:off x="7196530" y="976951"/>
            <a:ext cx="1661749" cy="5523883"/>
          </a:xfrm>
          <a:prstGeom prst="rect">
            <a:avLst/>
          </a:prstGeom>
          <a:noFill/>
          <a:ln w="9525">
            <a:noFill/>
            <a:miter lim="800000"/>
            <a:headEnd/>
            <a:tailEnd/>
          </a:ln>
          <a:effectLst/>
        </p:spPr>
      </p:pic>
      <p:sp>
        <p:nvSpPr>
          <p:cNvPr id="5" name="TextBox 4"/>
          <p:cNvSpPr txBox="1"/>
          <p:nvPr/>
        </p:nvSpPr>
        <p:spPr>
          <a:xfrm>
            <a:off x="1071538" y="1285860"/>
            <a:ext cx="5857915" cy="4939814"/>
          </a:xfrm>
          <a:prstGeom prst="rect">
            <a:avLst/>
          </a:prstGeom>
          <a:noFill/>
        </p:spPr>
        <p:txBody>
          <a:bodyPr wrap="square" rtlCol="0">
            <a:spAutoFit/>
          </a:bodyPr>
          <a:lstStyle/>
          <a:p>
            <a:pPr algn="just">
              <a:lnSpc>
                <a:spcPct val="150000"/>
              </a:lnSpc>
            </a:pPr>
            <a:r>
              <a:rPr lang="en-US" b="1" dirty="0" smtClean="0">
                <a:latin typeface="Times New Roman" pitchFamily="18" charset="0"/>
                <a:cs typeface="Times New Roman" pitchFamily="18" charset="0"/>
              </a:rPr>
              <a:t>Name of the </a:t>
            </a:r>
            <a:r>
              <a:rPr lang="en-US" b="1" dirty="0" smtClean="0">
                <a:latin typeface="Times New Roman" pitchFamily="18" charset="0"/>
                <a:cs typeface="Times New Roman" pitchFamily="18" charset="0"/>
              </a:rPr>
              <a:t>Module:</a:t>
            </a:r>
            <a:endParaRPr lang="en-US" b="1" dirty="0" smtClean="0">
              <a:latin typeface="Times New Roman" pitchFamily="18" charset="0"/>
              <a:cs typeface="Times New Roman" pitchFamily="18" charset="0"/>
            </a:endParaRPr>
          </a:p>
          <a:p>
            <a:pPr algn="just">
              <a:lnSpc>
                <a:spcPct val="150000"/>
              </a:lnSpc>
            </a:pPr>
            <a:r>
              <a:rPr lang="en-US" dirty="0" smtClean="0">
                <a:latin typeface="Times New Roman" pitchFamily="18" charset="0"/>
                <a:cs typeface="Times New Roman" pitchFamily="18" charset="0"/>
              </a:rPr>
              <a:t>"Web Automation Workflow for Food Ordering</a:t>
            </a:r>
            <a:r>
              <a:rPr lang="en-US"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algn="just">
              <a:lnSpc>
                <a:spcPct val="150000"/>
              </a:lnSpc>
            </a:pPr>
            <a:r>
              <a:rPr lang="en-US" b="1" dirty="0" smtClean="0">
                <a:latin typeface="Times New Roman" pitchFamily="18" charset="0"/>
                <a:cs typeface="Times New Roman" pitchFamily="18" charset="0"/>
              </a:rPr>
              <a:t> Description:</a:t>
            </a:r>
            <a:endParaRPr lang="en-US" b="1" dirty="0" smtClean="0">
              <a:latin typeface="Times New Roman" pitchFamily="18" charset="0"/>
              <a:cs typeface="Times New Roman" pitchFamily="18" charset="0"/>
            </a:endParaRPr>
          </a:p>
          <a:p>
            <a:pPr algn="just">
              <a:lnSpc>
                <a:spcPct val="150000"/>
              </a:lnSpc>
            </a:pPr>
            <a:r>
              <a:rPr lang="en-US" dirty="0" smtClean="0">
                <a:latin typeface="Times New Roman" pitchFamily="18" charset="0"/>
                <a:cs typeface="Times New Roman" pitchFamily="18" charset="0"/>
              </a:rPr>
              <a:t>This module automates a food ordering process on a website. It performs tasks such as:</a:t>
            </a:r>
          </a:p>
          <a:p>
            <a:pPr marL="342900" indent="-342900" algn="just">
              <a:lnSpc>
                <a:spcPct val="150000"/>
              </a:lnSpc>
              <a:buFont typeface="+mj-lt"/>
              <a:buAutoNum type="arabicParenR"/>
            </a:pPr>
            <a:r>
              <a:rPr lang="en-US" dirty="0" smtClean="0">
                <a:latin typeface="Times New Roman" pitchFamily="18" charset="0"/>
                <a:cs typeface="Times New Roman" pitchFamily="18" charset="0"/>
              </a:rPr>
              <a:t>Opening </a:t>
            </a:r>
            <a:r>
              <a:rPr lang="en-US" dirty="0" smtClean="0">
                <a:latin typeface="Times New Roman" pitchFamily="18" charset="0"/>
                <a:cs typeface="Times New Roman" pitchFamily="18" charset="0"/>
              </a:rPr>
              <a:t>a browser and navigating to the food ordering website.</a:t>
            </a:r>
          </a:p>
          <a:p>
            <a:pPr marL="342900" indent="-342900" algn="just">
              <a:lnSpc>
                <a:spcPct val="150000"/>
              </a:lnSpc>
              <a:buFont typeface="+mj-lt"/>
              <a:buAutoNum type="arabicParenR"/>
            </a:pPr>
            <a:r>
              <a:rPr lang="en-US" dirty="0" smtClean="0">
                <a:latin typeface="Times New Roman" pitchFamily="18" charset="0"/>
                <a:cs typeface="Times New Roman" pitchFamily="18" charset="0"/>
              </a:rPr>
              <a:t>Searching for restaurants or dishes based on user input.</a:t>
            </a:r>
          </a:p>
          <a:p>
            <a:pPr marL="342900" indent="-342900" algn="just">
              <a:lnSpc>
                <a:spcPct val="150000"/>
              </a:lnSpc>
              <a:buFont typeface="+mj-lt"/>
              <a:buAutoNum type="arabicParenR"/>
            </a:pPr>
            <a:r>
              <a:rPr lang="en-US" dirty="0" smtClean="0">
                <a:latin typeface="Times New Roman" pitchFamily="18" charset="0"/>
                <a:cs typeface="Times New Roman" pitchFamily="18" charset="0"/>
              </a:rPr>
              <a:t>Filtering options like "</a:t>
            </a:r>
            <a:r>
              <a:rPr lang="en-US" dirty="0" err="1" smtClean="0">
                <a:latin typeface="Times New Roman" pitchFamily="18" charset="0"/>
                <a:cs typeface="Times New Roman" pitchFamily="18" charset="0"/>
              </a:rPr>
              <a:t>Veg</a:t>
            </a:r>
            <a:r>
              <a:rPr lang="en-US" dirty="0" smtClean="0">
                <a:latin typeface="Times New Roman" pitchFamily="18" charset="0"/>
                <a:cs typeface="Times New Roman" pitchFamily="18" charset="0"/>
              </a:rPr>
              <a:t>" or "Non-Veg."</a:t>
            </a:r>
          </a:p>
          <a:p>
            <a:pPr marL="342900" indent="-342900" algn="just">
              <a:lnSpc>
                <a:spcPct val="150000"/>
              </a:lnSpc>
              <a:buFont typeface="+mj-lt"/>
              <a:buAutoNum type="arabicParenR"/>
            </a:pPr>
            <a:r>
              <a:rPr lang="en-US" dirty="0" smtClean="0">
                <a:latin typeface="Times New Roman" pitchFamily="18" charset="0"/>
                <a:cs typeface="Times New Roman" pitchFamily="18" charset="0"/>
              </a:rPr>
              <a:t>Adding items to the cart.</a:t>
            </a:r>
          </a:p>
          <a:p>
            <a:pPr marL="342900" indent="-342900" algn="just">
              <a:lnSpc>
                <a:spcPct val="150000"/>
              </a:lnSpc>
              <a:buFont typeface="+mj-lt"/>
              <a:buAutoNum type="arabicParenR"/>
            </a:pPr>
            <a:r>
              <a:rPr lang="en-US" dirty="0" smtClean="0">
                <a:latin typeface="Times New Roman" pitchFamily="18" charset="0"/>
                <a:cs typeface="Times New Roman" pitchFamily="18" charset="0"/>
              </a:rPr>
              <a:t>Proceeding to the checkout page.</a:t>
            </a:r>
          </a:p>
          <a:p>
            <a:endParaRPr lang="en-US" dirty="0"/>
          </a:p>
        </p:txBody>
      </p:sp>
    </p:spTree>
    <p:custDataLst>
      <p:tags r:id="rId1"/>
    </p:custDataLst>
    <p:extLst>
      <p:ext uri="{BB962C8B-B14F-4D97-AF65-F5344CB8AC3E}">
        <p14:creationId xmlns:p14="http://schemas.microsoft.com/office/powerpoint/2010/main" xmlns="" val="7845066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0"/>
            <a:ext cx="7498080" cy="1143000"/>
          </a:xfrm>
        </p:spPr>
        <p:txBody>
          <a:bodyPr>
            <a:normAutofit/>
          </a:bodyPr>
          <a:lstStyle/>
          <a:p>
            <a:r>
              <a:rPr lang="en-US" b="1" u="sng" dirty="0" smtClean="0"/>
              <a:t>Process </a:t>
            </a:r>
            <a:r>
              <a:rPr lang="en-US" b="1" u="sng" dirty="0" smtClean="0"/>
              <a:t>Design:</a:t>
            </a:r>
            <a:endParaRPr lang="en-IN" b="1" u="sng" dirty="0">
              <a:latin typeface="+mj-lt"/>
            </a:endParaRPr>
          </a:p>
        </p:txBody>
      </p:sp>
      <p:sp>
        <p:nvSpPr>
          <p:cNvPr id="3" name="Content Placeholder 2"/>
          <p:cNvSpPr>
            <a:spLocks noGrp="1"/>
          </p:cNvSpPr>
          <p:nvPr>
            <p:ph idx="1"/>
          </p:nvPr>
        </p:nvSpPr>
        <p:spPr>
          <a:xfrm>
            <a:off x="1142976" y="1071546"/>
            <a:ext cx="7498080" cy="5072098"/>
          </a:xfrm>
        </p:spPr>
        <p:txBody>
          <a:bodyPr>
            <a:normAutofit fontScale="40000" lnSpcReduction="20000"/>
          </a:bodyPr>
          <a:lstStyle/>
          <a:p>
            <a:pPr algn="just">
              <a:lnSpc>
                <a:spcPct val="120000"/>
              </a:lnSpc>
              <a:buNone/>
            </a:pPr>
            <a:r>
              <a:rPr lang="en-US" sz="4000" b="1" dirty="0" smtClean="0">
                <a:latin typeface="Times New Roman" pitchFamily="18" charset="0"/>
                <a:cs typeface="Times New Roman" pitchFamily="18" charset="0"/>
              </a:rPr>
              <a:t>1. Start</a:t>
            </a:r>
          </a:p>
          <a:p>
            <a:pPr algn="just">
              <a:lnSpc>
                <a:spcPct val="120000"/>
              </a:lnSpc>
            </a:pPr>
            <a:r>
              <a:rPr lang="en-US" sz="4000" dirty="0" smtClean="0">
                <a:latin typeface="Times New Roman" pitchFamily="18" charset="0"/>
                <a:cs typeface="Times New Roman" pitchFamily="18" charset="0"/>
              </a:rPr>
              <a:t>Open browser and navigate to the food ordering website.</a:t>
            </a:r>
          </a:p>
          <a:p>
            <a:pPr algn="just">
              <a:lnSpc>
                <a:spcPct val="120000"/>
              </a:lnSpc>
              <a:buNone/>
            </a:pPr>
            <a:r>
              <a:rPr lang="en-US" sz="4000" b="1" dirty="0" smtClean="0">
                <a:latin typeface="Times New Roman" pitchFamily="18" charset="0"/>
                <a:cs typeface="Times New Roman" pitchFamily="18" charset="0"/>
              </a:rPr>
              <a:t>2. Search</a:t>
            </a:r>
          </a:p>
          <a:p>
            <a:pPr algn="just">
              <a:lnSpc>
                <a:spcPct val="120000"/>
              </a:lnSpc>
            </a:pPr>
            <a:r>
              <a:rPr lang="en-US" sz="4000" dirty="0" smtClean="0">
                <a:latin typeface="Times New Roman" pitchFamily="18" charset="0"/>
                <a:cs typeface="Times New Roman" pitchFamily="18" charset="0"/>
              </a:rPr>
              <a:t>Prompt user for the dish/restaurant name and input it into the search bar.</a:t>
            </a:r>
          </a:p>
          <a:p>
            <a:pPr algn="just">
              <a:lnSpc>
                <a:spcPct val="120000"/>
              </a:lnSpc>
            </a:pPr>
            <a:r>
              <a:rPr lang="en-US" sz="4000" dirty="0" smtClean="0">
                <a:latin typeface="Times New Roman" pitchFamily="18" charset="0"/>
                <a:cs typeface="Times New Roman" pitchFamily="18" charset="0"/>
              </a:rPr>
              <a:t>Click </a:t>
            </a:r>
            <a:r>
              <a:rPr lang="en-US" sz="4000" b="1" dirty="0" smtClean="0">
                <a:latin typeface="Times New Roman" pitchFamily="18" charset="0"/>
                <a:cs typeface="Times New Roman" pitchFamily="18" charset="0"/>
              </a:rPr>
              <a:t>Search</a:t>
            </a:r>
            <a:r>
              <a:rPr lang="en-US" sz="4000" dirty="0" smtClean="0">
                <a:latin typeface="Times New Roman" pitchFamily="18" charset="0"/>
                <a:cs typeface="Times New Roman" pitchFamily="18" charset="0"/>
              </a:rPr>
              <a:t> to display results.</a:t>
            </a:r>
          </a:p>
          <a:p>
            <a:pPr algn="just">
              <a:lnSpc>
                <a:spcPct val="120000"/>
              </a:lnSpc>
              <a:buNone/>
            </a:pPr>
            <a:r>
              <a:rPr lang="en-US" sz="4000" b="1" dirty="0" smtClean="0">
                <a:latin typeface="Times New Roman" pitchFamily="18" charset="0"/>
                <a:cs typeface="Times New Roman" pitchFamily="18" charset="0"/>
              </a:rPr>
              <a:t>3. Filter</a:t>
            </a:r>
          </a:p>
          <a:p>
            <a:pPr algn="just">
              <a:lnSpc>
                <a:spcPct val="120000"/>
              </a:lnSpc>
            </a:pPr>
            <a:r>
              <a:rPr lang="en-US" sz="4000" dirty="0" smtClean="0">
                <a:latin typeface="Times New Roman" pitchFamily="18" charset="0"/>
                <a:cs typeface="Times New Roman" pitchFamily="18" charset="0"/>
              </a:rPr>
              <a:t>Prompt user to select "</a:t>
            </a:r>
            <a:r>
              <a:rPr lang="en-US" sz="4000" dirty="0" err="1" smtClean="0">
                <a:latin typeface="Times New Roman" pitchFamily="18" charset="0"/>
                <a:cs typeface="Times New Roman" pitchFamily="18" charset="0"/>
              </a:rPr>
              <a:t>Veg</a:t>
            </a:r>
            <a:r>
              <a:rPr lang="en-US" sz="4000" dirty="0" smtClean="0">
                <a:latin typeface="Times New Roman" pitchFamily="18" charset="0"/>
                <a:cs typeface="Times New Roman" pitchFamily="18" charset="0"/>
              </a:rPr>
              <a:t>" or "Non-Veg."</a:t>
            </a:r>
          </a:p>
          <a:p>
            <a:pPr algn="just">
              <a:lnSpc>
                <a:spcPct val="120000"/>
              </a:lnSpc>
            </a:pPr>
            <a:r>
              <a:rPr lang="en-US" sz="4000" dirty="0" smtClean="0">
                <a:latin typeface="Times New Roman" pitchFamily="18" charset="0"/>
                <a:cs typeface="Times New Roman" pitchFamily="18" charset="0"/>
              </a:rPr>
              <a:t>Apply the selected filter.</a:t>
            </a:r>
          </a:p>
          <a:p>
            <a:pPr algn="just">
              <a:lnSpc>
                <a:spcPct val="120000"/>
              </a:lnSpc>
              <a:buNone/>
            </a:pPr>
            <a:r>
              <a:rPr lang="en-US" sz="4000" b="1" dirty="0" smtClean="0">
                <a:latin typeface="Times New Roman" pitchFamily="18" charset="0"/>
                <a:cs typeface="Times New Roman" pitchFamily="18" charset="0"/>
              </a:rPr>
              <a:t>4. Add Items</a:t>
            </a:r>
          </a:p>
          <a:p>
            <a:pPr algn="just">
              <a:lnSpc>
                <a:spcPct val="120000"/>
              </a:lnSpc>
            </a:pPr>
            <a:r>
              <a:rPr lang="en-US" sz="4000" dirty="0" smtClean="0">
                <a:latin typeface="Times New Roman" pitchFamily="18" charset="0"/>
                <a:cs typeface="Times New Roman" pitchFamily="18" charset="0"/>
              </a:rPr>
              <a:t>Select an item, specify the quantity, and click </a:t>
            </a:r>
            <a:r>
              <a:rPr lang="en-US" sz="4000" b="1" dirty="0" smtClean="0">
                <a:latin typeface="Times New Roman" pitchFamily="18" charset="0"/>
                <a:cs typeface="Times New Roman" pitchFamily="18" charset="0"/>
              </a:rPr>
              <a:t>Add to Cart</a:t>
            </a:r>
            <a:r>
              <a:rPr lang="en-US" sz="4000" dirty="0" smtClean="0">
                <a:latin typeface="Times New Roman" pitchFamily="18" charset="0"/>
                <a:cs typeface="Times New Roman" pitchFamily="18" charset="0"/>
              </a:rPr>
              <a:t>.</a:t>
            </a:r>
          </a:p>
          <a:p>
            <a:pPr algn="just">
              <a:lnSpc>
                <a:spcPct val="120000"/>
              </a:lnSpc>
            </a:pPr>
            <a:r>
              <a:rPr lang="en-US" sz="4000" dirty="0" smtClean="0">
                <a:latin typeface="Times New Roman" pitchFamily="18" charset="0"/>
                <a:cs typeface="Times New Roman" pitchFamily="18" charset="0"/>
              </a:rPr>
              <a:t>Use a loop to allow adding more items.</a:t>
            </a:r>
          </a:p>
          <a:p>
            <a:pPr algn="just">
              <a:lnSpc>
                <a:spcPct val="120000"/>
              </a:lnSpc>
              <a:buNone/>
            </a:pPr>
            <a:r>
              <a:rPr lang="en-US" sz="4000" b="1" dirty="0" smtClean="0">
                <a:latin typeface="Times New Roman" pitchFamily="18" charset="0"/>
                <a:cs typeface="Times New Roman" pitchFamily="18" charset="0"/>
              </a:rPr>
              <a:t>5. Checkout</a:t>
            </a:r>
          </a:p>
          <a:p>
            <a:pPr algn="just">
              <a:lnSpc>
                <a:spcPct val="120000"/>
              </a:lnSpc>
            </a:pPr>
            <a:r>
              <a:rPr lang="en-US" sz="4000" dirty="0" smtClean="0">
                <a:latin typeface="Times New Roman" pitchFamily="18" charset="0"/>
                <a:cs typeface="Times New Roman" pitchFamily="18" charset="0"/>
              </a:rPr>
              <a:t>Navigate to the cart page, review items, and click </a:t>
            </a:r>
            <a:r>
              <a:rPr lang="en-US" sz="4000" b="1" dirty="0" smtClean="0">
                <a:latin typeface="Times New Roman" pitchFamily="18" charset="0"/>
                <a:cs typeface="Times New Roman" pitchFamily="18" charset="0"/>
              </a:rPr>
              <a:t>Checkout</a:t>
            </a:r>
            <a:r>
              <a:rPr lang="en-US" sz="4000" dirty="0" smtClean="0">
                <a:latin typeface="Times New Roman" pitchFamily="18" charset="0"/>
                <a:cs typeface="Times New Roman" pitchFamily="18" charset="0"/>
              </a:rPr>
              <a:t>.</a:t>
            </a:r>
          </a:p>
          <a:p>
            <a:pPr algn="just">
              <a:lnSpc>
                <a:spcPct val="120000"/>
              </a:lnSpc>
              <a:buNone/>
            </a:pPr>
            <a:r>
              <a:rPr lang="en-US" sz="4000" b="1" dirty="0" smtClean="0">
                <a:latin typeface="Times New Roman" pitchFamily="18" charset="0"/>
                <a:cs typeface="Times New Roman" pitchFamily="18" charset="0"/>
              </a:rPr>
              <a:t>6. End</a:t>
            </a:r>
          </a:p>
          <a:p>
            <a:pPr algn="just">
              <a:lnSpc>
                <a:spcPct val="120000"/>
              </a:lnSpc>
            </a:pPr>
            <a:r>
              <a:rPr lang="en-US" sz="4000" dirty="0" smtClean="0">
                <a:latin typeface="Times New Roman" pitchFamily="18" charset="0"/>
                <a:cs typeface="Times New Roman" pitchFamily="18" charset="0"/>
              </a:rPr>
              <a:t>Display confirmation and close the browser.</a:t>
            </a:r>
          </a:p>
          <a:p>
            <a:pPr>
              <a:buNone/>
            </a:pPr>
            <a:endParaRPr lang="en-US" dirty="0"/>
          </a:p>
        </p:txBody>
      </p:sp>
    </p:spTree>
    <p:custDataLst>
      <p:tags r:id="rId1"/>
    </p:custDataLst>
    <p:extLst>
      <p:ext uri="{BB962C8B-B14F-4D97-AF65-F5344CB8AC3E}">
        <p14:creationId xmlns:p14="http://schemas.microsoft.com/office/powerpoint/2010/main" xmlns="" val="30234279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0"/>
            <a:ext cx="7498080" cy="1143000"/>
          </a:xfrm>
        </p:spPr>
        <p:txBody>
          <a:bodyPr>
            <a:normAutofit/>
          </a:bodyPr>
          <a:lstStyle/>
          <a:p>
            <a:r>
              <a:rPr lang="en-US" b="1" u="sng" dirty="0" smtClean="0"/>
              <a:t>Implementation:</a:t>
            </a:r>
            <a:endParaRPr lang="en-IN" b="1" u="sng" dirty="0">
              <a:latin typeface="+mj-lt"/>
            </a:endParaRPr>
          </a:p>
        </p:txBody>
      </p:sp>
      <p:pic>
        <p:nvPicPr>
          <p:cNvPr id="6" name="Content Placeholder 5"/>
          <p:cNvPicPr>
            <a:picLocks noGrp="1"/>
          </p:cNvPicPr>
          <p:nvPr>
            <p:ph idx="1"/>
          </p:nvPr>
        </p:nvPicPr>
        <p:blipFill>
          <a:blip r:embed="rId4"/>
          <a:srcRect/>
          <a:stretch>
            <a:fillRect/>
          </a:stretch>
        </p:blipFill>
        <p:spPr bwMode="auto">
          <a:xfrm>
            <a:off x="142844" y="1214422"/>
            <a:ext cx="4443474" cy="4657740"/>
          </a:xfrm>
          <a:prstGeom prst="rect">
            <a:avLst/>
          </a:prstGeom>
          <a:noFill/>
        </p:spPr>
      </p:pic>
      <p:pic>
        <p:nvPicPr>
          <p:cNvPr id="7" name="Picture 6"/>
          <p:cNvPicPr/>
          <p:nvPr/>
        </p:nvPicPr>
        <p:blipFill>
          <a:blip r:embed="rId5"/>
          <a:srcRect/>
          <a:stretch>
            <a:fillRect/>
          </a:stretch>
        </p:blipFill>
        <p:spPr bwMode="auto">
          <a:xfrm>
            <a:off x="4429124" y="1285860"/>
            <a:ext cx="4062739" cy="4684725"/>
          </a:xfrm>
          <a:prstGeom prst="rect">
            <a:avLst/>
          </a:prstGeom>
          <a:noFill/>
        </p:spPr>
      </p:pic>
    </p:spTree>
    <p:custDataLst>
      <p:tags r:id="rId1"/>
    </p:custDataLst>
    <p:extLst>
      <p:ext uri="{BB962C8B-B14F-4D97-AF65-F5344CB8AC3E}">
        <p14:creationId xmlns:p14="http://schemas.microsoft.com/office/powerpoint/2010/main" xmlns="" val="17694729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0"/>
            <a:ext cx="7498080" cy="1143000"/>
          </a:xfrm>
        </p:spPr>
        <p:txBody>
          <a:bodyPr/>
          <a:lstStyle/>
          <a:p>
            <a:r>
              <a:rPr lang="en-IN" b="1" u="sng" dirty="0" smtClean="0"/>
              <a:t>Implementation</a:t>
            </a:r>
            <a:r>
              <a:rPr lang="en-IN" dirty="0" smtClean="0"/>
              <a:t>:</a:t>
            </a:r>
            <a:endParaRPr lang="en-US" dirty="0"/>
          </a:p>
        </p:txBody>
      </p:sp>
      <p:sp>
        <p:nvSpPr>
          <p:cNvPr id="4" name="Footer Placeholder 3"/>
          <p:cNvSpPr>
            <a:spLocks noGrp="1"/>
          </p:cNvSpPr>
          <p:nvPr>
            <p:ph type="ftr" sz="quarter" idx="11"/>
          </p:nvPr>
        </p:nvSpPr>
        <p:spPr/>
        <p:txBody>
          <a:bodyPr/>
          <a:lstStyle/>
          <a:p>
            <a:endParaRPr kumimoji="0" lang="en-US"/>
          </a:p>
        </p:txBody>
      </p:sp>
      <p:pic>
        <p:nvPicPr>
          <p:cNvPr id="5" name="Content Placeholder 4"/>
          <p:cNvPicPr>
            <a:picLocks noGrp="1"/>
          </p:cNvPicPr>
          <p:nvPr>
            <p:ph idx="1"/>
          </p:nvPr>
        </p:nvPicPr>
        <p:blipFill>
          <a:blip r:embed="rId2"/>
          <a:srcRect/>
          <a:stretch>
            <a:fillRect/>
          </a:stretch>
        </p:blipFill>
        <p:spPr bwMode="auto">
          <a:xfrm>
            <a:off x="142844" y="1285860"/>
            <a:ext cx="4841341" cy="4800600"/>
          </a:xfrm>
          <a:prstGeom prst="rect">
            <a:avLst/>
          </a:prstGeom>
          <a:noFill/>
          <a:ln w="9525">
            <a:noFill/>
            <a:miter lim="800000"/>
            <a:headEnd/>
            <a:tailEnd/>
          </a:ln>
        </p:spPr>
      </p:pic>
      <p:pic>
        <p:nvPicPr>
          <p:cNvPr id="6" name="Picture 5"/>
          <p:cNvPicPr/>
          <p:nvPr/>
        </p:nvPicPr>
        <p:blipFill>
          <a:blip r:embed="rId3"/>
          <a:srcRect/>
          <a:stretch>
            <a:fillRect/>
          </a:stretch>
        </p:blipFill>
        <p:spPr bwMode="auto">
          <a:xfrm>
            <a:off x="5143504" y="1285860"/>
            <a:ext cx="3810005" cy="476898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142852"/>
            <a:ext cx="7498080" cy="1143000"/>
          </a:xfrm>
        </p:spPr>
        <p:txBody>
          <a:bodyPr/>
          <a:lstStyle/>
          <a:p>
            <a:r>
              <a:rPr lang="en-IN" b="1" u="sng" dirty="0" smtClean="0"/>
              <a:t>Implementation</a:t>
            </a:r>
            <a:r>
              <a:rPr lang="en-IN" dirty="0" smtClean="0"/>
              <a:t>:</a:t>
            </a:r>
            <a:endParaRPr lang="en-US" dirty="0"/>
          </a:p>
        </p:txBody>
      </p:sp>
      <p:sp>
        <p:nvSpPr>
          <p:cNvPr id="4" name="Footer Placeholder 3"/>
          <p:cNvSpPr>
            <a:spLocks noGrp="1"/>
          </p:cNvSpPr>
          <p:nvPr>
            <p:ph type="ftr" sz="quarter" idx="11"/>
          </p:nvPr>
        </p:nvSpPr>
        <p:spPr/>
        <p:txBody>
          <a:bodyPr/>
          <a:lstStyle/>
          <a:p>
            <a:endParaRPr kumimoji="0" lang="en-US"/>
          </a:p>
        </p:txBody>
      </p:sp>
      <p:pic>
        <p:nvPicPr>
          <p:cNvPr id="5" name="Content Placeholder 4"/>
          <p:cNvPicPr>
            <a:picLocks noGrp="1"/>
          </p:cNvPicPr>
          <p:nvPr>
            <p:ph idx="1"/>
          </p:nvPr>
        </p:nvPicPr>
        <p:blipFill>
          <a:blip r:embed="rId2"/>
          <a:srcRect/>
          <a:stretch>
            <a:fillRect/>
          </a:stretch>
        </p:blipFill>
        <p:spPr bwMode="auto">
          <a:xfrm>
            <a:off x="3071802" y="1214422"/>
            <a:ext cx="3931379" cy="48006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142852"/>
            <a:ext cx="7498080" cy="1143000"/>
          </a:xfrm>
        </p:spPr>
        <p:txBody>
          <a:bodyPr>
            <a:normAutofit/>
          </a:bodyPr>
          <a:lstStyle/>
          <a:p>
            <a:r>
              <a:rPr lang="en-US" b="1" u="sng" dirty="0" smtClean="0"/>
              <a:t>Testing:</a:t>
            </a:r>
            <a:endParaRPr lang="en-IN" b="1" u="sng" dirty="0">
              <a:latin typeface="+mj-lt"/>
            </a:endParaRPr>
          </a:p>
        </p:txBody>
      </p:sp>
      <p:pic>
        <p:nvPicPr>
          <p:cNvPr id="4" name="Content Placeholder 3"/>
          <p:cNvPicPr>
            <a:picLocks noGrp="1"/>
          </p:cNvPicPr>
          <p:nvPr>
            <p:ph idx="1"/>
          </p:nvPr>
        </p:nvPicPr>
        <p:blipFill>
          <a:blip r:embed="rId4"/>
          <a:srcRect/>
          <a:stretch>
            <a:fillRect/>
          </a:stretch>
        </p:blipFill>
        <p:spPr bwMode="auto">
          <a:xfrm>
            <a:off x="2714612" y="2143116"/>
            <a:ext cx="3214710" cy="1643074"/>
          </a:xfrm>
          <a:prstGeom prst="rect">
            <a:avLst/>
          </a:prstGeom>
          <a:noFill/>
        </p:spPr>
      </p:pic>
      <p:pic>
        <p:nvPicPr>
          <p:cNvPr id="5" name="Picture 4"/>
          <p:cNvPicPr/>
          <p:nvPr/>
        </p:nvPicPr>
        <p:blipFill>
          <a:blip r:embed="rId5"/>
          <a:srcRect/>
          <a:stretch>
            <a:fillRect/>
          </a:stretch>
        </p:blipFill>
        <p:spPr bwMode="auto">
          <a:xfrm>
            <a:off x="2071670" y="4643446"/>
            <a:ext cx="4857784" cy="1214446"/>
          </a:xfrm>
          <a:prstGeom prst="rect">
            <a:avLst/>
          </a:prstGeom>
          <a:noFill/>
        </p:spPr>
      </p:pic>
      <p:sp>
        <p:nvSpPr>
          <p:cNvPr id="8" name="TextBox 7"/>
          <p:cNvSpPr txBox="1"/>
          <p:nvPr/>
        </p:nvSpPr>
        <p:spPr>
          <a:xfrm>
            <a:off x="2500298" y="1571612"/>
            <a:ext cx="1290738" cy="369332"/>
          </a:xfrm>
          <a:prstGeom prst="rect">
            <a:avLst/>
          </a:prstGeom>
          <a:noFill/>
        </p:spPr>
        <p:txBody>
          <a:bodyPr wrap="none" rtlCol="0">
            <a:spAutoFit/>
          </a:bodyPr>
          <a:lstStyle/>
          <a:p>
            <a:r>
              <a:rPr lang="en-IN" dirty="0" smtClean="0"/>
              <a:t>Enter Input:</a:t>
            </a:r>
            <a:endParaRPr lang="en-US" dirty="0"/>
          </a:p>
        </p:txBody>
      </p:sp>
      <p:sp>
        <p:nvSpPr>
          <p:cNvPr id="10" name="TextBox 9"/>
          <p:cNvSpPr txBox="1"/>
          <p:nvPr/>
        </p:nvSpPr>
        <p:spPr>
          <a:xfrm>
            <a:off x="2214546" y="4214818"/>
            <a:ext cx="1523174" cy="369332"/>
          </a:xfrm>
          <a:prstGeom prst="rect">
            <a:avLst/>
          </a:prstGeom>
          <a:noFill/>
        </p:spPr>
        <p:txBody>
          <a:bodyPr wrap="none" rtlCol="0">
            <a:spAutoFit/>
          </a:bodyPr>
          <a:lstStyle/>
          <a:p>
            <a:r>
              <a:rPr lang="en-IN" dirty="0" smtClean="0"/>
              <a:t>Search Order:</a:t>
            </a:r>
            <a:endParaRPr lang="en-US" dirty="0"/>
          </a:p>
        </p:txBody>
      </p:sp>
    </p:spTree>
    <p:custDataLst>
      <p:tags r:id="rId1"/>
    </p:custDataLst>
    <p:extLst>
      <p:ext uri="{BB962C8B-B14F-4D97-AF65-F5344CB8AC3E}">
        <p14:creationId xmlns:p14="http://schemas.microsoft.com/office/powerpoint/2010/main" xmlns="" val="19213275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kumimoji="0" lang="en-US"/>
          </a:p>
        </p:txBody>
      </p:sp>
      <p:pic>
        <p:nvPicPr>
          <p:cNvPr id="5" name="Content Placeholder 4"/>
          <p:cNvPicPr>
            <a:picLocks noGrp="1"/>
          </p:cNvPicPr>
          <p:nvPr>
            <p:ph idx="1"/>
          </p:nvPr>
        </p:nvPicPr>
        <p:blipFill>
          <a:blip r:embed="rId2"/>
          <a:srcRect/>
          <a:stretch>
            <a:fillRect/>
          </a:stretch>
        </p:blipFill>
        <p:spPr bwMode="auto">
          <a:xfrm>
            <a:off x="1785918" y="1000108"/>
            <a:ext cx="3466465" cy="2062347"/>
          </a:xfrm>
          <a:prstGeom prst="rect">
            <a:avLst/>
          </a:prstGeom>
          <a:noFill/>
        </p:spPr>
      </p:pic>
      <p:sp>
        <p:nvSpPr>
          <p:cNvPr id="6" name="TextBox 5"/>
          <p:cNvSpPr txBox="1"/>
          <p:nvPr/>
        </p:nvSpPr>
        <p:spPr>
          <a:xfrm>
            <a:off x="2000232" y="428604"/>
            <a:ext cx="2489143" cy="369332"/>
          </a:xfrm>
          <a:prstGeom prst="rect">
            <a:avLst/>
          </a:prstGeom>
          <a:noFill/>
        </p:spPr>
        <p:txBody>
          <a:bodyPr wrap="none" rtlCol="0">
            <a:spAutoFit/>
          </a:bodyPr>
          <a:lstStyle/>
          <a:p>
            <a:r>
              <a:rPr lang="en-IN" dirty="0" smtClean="0"/>
              <a:t>Choose </a:t>
            </a:r>
            <a:r>
              <a:rPr lang="en-IN" dirty="0" err="1" smtClean="0"/>
              <a:t>Veg</a:t>
            </a:r>
            <a:r>
              <a:rPr lang="en-IN" dirty="0" smtClean="0"/>
              <a:t> or Non-</a:t>
            </a:r>
            <a:r>
              <a:rPr lang="en-IN" dirty="0" err="1" smtClean="0"/>
              <a:t>Veg</a:t>
            </a:r>
            <a:r>
              <a:rPr lang="en-IN" dirty="0" smtClean="0"/>
              <a:t>:</a:t>
            </a:r>
            <a:endParaRPr lang="en-US" dirty="0"/>
          </a:p>
        </p:txBody>
      </p:sp>
      <p:pic>
        <p:nvPicPr>
          <p:cNvPr id="7" name="Picture 6"/>
          <p:cNvPicPr/>
          <p:nvPr/>
        </p:nvPicPr>
        <p:blipFill>
          <a:blip r:embed="rId3"/>
          <a:srcRect/>
          <a:stretch>
            <a:fillRect/>
          </a:stretch>
        </p:blipFill>
        <p:spPr bwMode="auto">
          <a:xfrm>
            <a:off x="1857356" y="4000504"/>
            <a:ext cx="3436620" cy="1805940"/>
          </a:xfrm>
          <a:prstGeom prst="rect">
            <a:avLst/>
          </a:prstGeom>
          <a:noFill/>
        </p:spPr>
      </p:pic>
      <p:sp>
        <p:nvSpPr>
          <p:cNvPr id="8" name="TextBox 7"/>
          <p:cNvSpPr txBox="1"/>
          <p:nvPr/>
        </p:nvSpPr>
        <p:spPr>
          <a:xfrm>
            <a:off x="2071670" y="3500438"/>
            <a:ext cx="1560043" cy="369332"/>
          </a:xfrm>
          <a:prstGeom prst="rect">
            <a:avLst/>
          </a:prstGeom>
          <a:noFill/>
        </p:spPr>
        <p:txBody>
          <a:bodyPr wrap="none" rtlCol="0">
            <a:spAutoFit/>
          </a:bodyPr>
          <a:lstStyle/>
          <a:p>
            <a:pPr algn="ctr"/>
            <a:r>
              <a:rPr lang="en-IN" dirty="0" smtClean="0"/>
              <a:t>Enter quantity:</a:t>
            </a:r>
            <a:endParaRPr lang="en-US" dirty="0"/>
          </a:p>
        </p:txBody>
      </p:sp>
      <p:pic>
        <p:nvPicPr>
          <p:cNvPr id="9" name="Picture 8"/>
          <p:cNvPicPr/>
          <p:nvPr/>
        </p:nvPicPr>
        <p:blipFill>
          <a:blip r:embed="rId4" cstate="print"/>
          <a:srcRect/>
          <a:stretch>
            <a:fillRect/>
          </a:stretch>
        </p:blipFill>
        <p:spPr bwMode="auto">
          <a:xfrm>
            <a:off x="5429256" y="1357298"/>
            <a:ext cx="3500462" cy="1465192"/>
          </a:xfrm>
          <a:prstGeom prst="rect">
            <a:avLst/>
          </a:prstGeom>
          <a:noFill/>
        </p:spPr>
      </p:pic>
      <p:sp>
        <p:nvSpPr>
          <p:cNvPr id="10" name="TextBox 9"/>
          <p:cNvSpPr txBox="1"/>
          <p:nvPr/>
        </p:nvSpPr>
        <p:spPr>
          <a:xfrm>
            <a:off x="5857884" y="857232"/>
            <a:ext cx="1487971" cy="369332"/>
          </a:xfrm>
          <a:prstGeom prst="rect">
            <a:avLst/>
          </a:prstGeom>
          <a:noFill/>
        </p:spPr>
        <p:txBody>
          <a:bodyPr wrap="none" rtlCol="0">
            <a:spAutoFit/>
          </a:bodyPr>
          <a:lstStyle/>
          <a:p>
            <a:r>
              <a:rPr lang="en-IN" dirty="0" smtClean="0"/>
              <a:t>Order Added:</a:t>
            </a:r>
            <a:endParaRPr lang="en-US" dirty="0"/>
          </a:p>
        </p:txBody>
      </p:sp>
      <p:pic>
        <p:nvPicPr>
          <p:cNvPr id="11" name="Picture 10"/>
          <p:cNvPicPr/>
          <p:nvPr/>
        </p:nvPicPr>
        <p:blipFill>
          <a:blip r:embed="rId5"/>
          <a:srcRect/>
          <a:stretch>
            <a:fillRect/>
          </a:stretch>
        </p:blipFill>
        <p:spPr bwMode="auto">
          <a:xfrm>
            <a:off x="5643570" y="4071942"/>
            <a:ext cx="3286116" cy="1619249"/>
          </a:xfrm>
          <a:prstGeom prst="rect">
            <a:avLst/>
          </a:prstGeom>
          <a:noFill/>
          <a:ln w="9525">
            <a:noFill/>
            <a:miter lim="800000"/>
            <a:headEnd/>
            <a:tailEnd/>
          </a:ln>
        </p:spPr>
      </p:pic>
      <p:sp>
        <p:nvSpPr>
          <p:cNvPr id="12" name="TextBox 11"/>
          <p:cNvSpPr txBox="1"/>
          <p:nvPr/>
        </p:nvSpPr>
        <p:spPr>
          <a:xfrm>
            <a:off x="5857884" y="3429000"/>
            <a:ext cx="2217467" cy="369332"/>
          </a:xfrm>
          <a:prstGeom prst="rect">
            <a:avLst/>
          </a:prstGeom>
          <a:noFill/>
        </p:spPr>
        <p:txBody>
          <a:bodyPr wrap="none" rtlCol="0">
            <a:spAutoFit/>
          </a:bodyPr>
          <a:lstStyle/>
          <a:p>
            <a:r>
              <a:rPr lang="en-IN" dirty="0" smtClean="0"/>
              <a:t>Proceed to checkout: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142852"/>
            <a:ext cx="7498080" cy="1143000"/>
          </a:xfrm>
        </p:spPr>
        <p:txBody>
          <a:bodyPr>
            <a:normAutofit/>
          </a:bodyPr>
          <a:lstStyle/>
          <a:p>
            <a:r>
              <a:rPr lang="en-US" b="1" u="sng" dirty="0" smtClean="0"/>
              <a:t>Conclusions:</a:t>
            </a:r>
            <a:endParaRPr lang="en-IN" b="1" u="sng" dirty="0">
              <a:latin typeface="+mj-lt"/>
            </a:endParaRPr>
          </a:p>
        </p:txBody>
      </p:sp>
      <p:sp>
        <p:nvSpPr>
          <p:cNvPr id="3" name="Content Placeholder 2"/>
          <p:cNvSpPr>
            <a:spLocks noGrp="1"/>
          </p:cNvSpPr>
          <p:nvPr>
            <p:ph idx="1"/>
          </p:nvPr>
        </p:nvSpPr>
        <p:spPr>
          <a:xfrm>
            <a:off x="1071538" y="1285860"/>
            <a:ext cx="7498080" cy="4800600"/>
          </a:xfrm>
        </p:spPr>
        <p:txBody>
          <a:bodyPr>
            <a:normAutofit fontScale="70000" lnSpcReduction="20000"/>
          </a:bodyPr>
          <a:lstStyle/>
          <a:p>
            <a:pPr algn="just">
              <a:lnSpc>
                <a:spcPct val="160000"/>
              </a:lnSpc>
              <a:buNone/>
            </a:pPr>
            <a:r>
              <a:rPr lang="en-US" dirty="0" smtClean="0"/>
              <a:t> </a:t>
            </a:r>
            <a:r>
              <a:rPr lang="en-US" dirty="0" smtClean="0">
                <a:latin typeface="Times New Roman" pitchFamily="18" charset="0"/>
                <a:cs typeface="Times New Roman" pitchFamily="18" charset="0"/>
              </a:rPr>
              <a:t>The project successfully demonstrates the potential of Robotic Process Automation (RPA) to streamline repetitive and time-consuming tasks, such as ordering items from a food delivery platform. By automating processes like searching for dishes, selecting preferences, and adding items to the cart, the workflow reduces human effort, minimizes errors, and enhances operational efficiency. The dynamic decision-making capabilities, such as </a:t>
            </a:r>
            <a:r>
              <a:rPr lang="en-US" dirty="0" err="1" smtClean="0">
                <a:latin typeface="Times New Roman" pitchFamily="18" charset="0"/>
                <a:cs typeface="Times New Roman" pitchFamily="18" charset="0"/>
              </a:rPr>
              <a:t>Veg</a:t>
            </a:r>
            <a:r>
              <a:rPr lang="en-US" dirty="0" smtClean="0">
                <a:latin typeface="Times New Roman" pitchFamily="18" charset="0"/>
                <a:cs typeface="Times New Roman" pitchFamily="18" charset="0"/>
              </a:rPr>
              <a:t>/Non-</a:t>
            </a:r>
            <a:r>
              <a:rPr lang="en-US" dirty="0" err="1" smtClean="0">
                <a:latin typeface="Times New Roman" pitchFamily="18" charset="0"/>
                <a:cs typeface="Times New Roman" pitchFamily="18" charset="0"/>
              </a:rPr>
              <a:t>Veg</a:t>
            </a:r>
            <a:r>
              <a:rPr lang="en-US" dirty="0" smtClean="0">
                <a:latin typeface="Times New Roman" pitchFamily="18" charset="0"/>
                <a:cs typeface="Times New Roman" pitchFamily="18" charset="0"/>
              </a:rPr>
              <a:t> selection, and the ability to handle user inputs make the automation adaptable and user-friendly</a:t>
            </a:r>
            <a:endParaRPr lang="en-US" dirty="0" smtClean="0">
              <a:latin typeface="Times New Roman" pitchFamily="18" charset="0"/>
              <a:cs typeface="Times New Roman" pitchFamily="18" charset="0"/>
            </a:endParaRPr>
          </a:p>
          <a:p>
            <a:endParaRPr lang="en-US" dirty="0"/>
          </a:p>
        </p:txBody>
      </p:sp>
    </p:spTree>
    <p:custDataLst>
      <p:tags r:id="rId1"/>
    </p:custDataLst>
    <p:extLst>
      <p:ext uri="{BB962C8B-B14F-4D97-AF65-F5344CB8AC3E}">
        <p14:creationId xmlns:p14="http://schemas.microsoft.com/office/powerpoint/2010/main" xmlns="" val="7153749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142852"/>
            <a:ext cx="7498080" cy="1143000"/>
          </a:xfrm>
        </p:spPr>
        <p:txBody>
          <a:bodyPr>
            <a:normAutofit/>
          </a:bodyPr>
          <a:lstStyle/>
          <a:p>
            <a:r>
              <a:rPr lang="en-US" b="1" u="sng" dirty="0" smtClean="0"/>
              <a:t>Future </a:t>
            </a:r>
            <a:r>
              <a:rPr lang="en-US" b="1" u="sng" dirty="0" smtClean="0"/>
              <a:t>Enhancement:</a:t>
            </a:r>
            <a:endParaRPr lang="en-IN" b="1" u="sng" dirty="0">
              <a:latin typeface="+mj-lt"/>
            </a:endParaRPr>
          </a:p>
        </p:txBody>
      </p:sp>
      <p:sp>
        <p:nvSpPr>
          <p:cNvPr id="3" name="Content Placeholder 2"/>
          <p:cNvSpPr>
            <a:spLocks noGrp="1"/>
          </p:cNvSpPr>
          <p:nvPr>
            <p:ph idx="1"/>
          </p:nvPr>
        </p:nvSpPr>
        <p:spPr>
          <a:xfrm>
            <a:off x="1071538" y="1285860"/>
            <a:ext cx="7498080" cy="5000660"/>
          </a:xfrm>
        </p:spPr>
        <p:txBody>
          <a:bodyPr>
            <a:normAutofit fontScale="47500" lnSpcReduction="20000"/>
          </a:bodyPr>
          <a:lstStyle/>
          <a:p>
            <a:pPr>
              <a:lnSpc>
                <a:spcPct val="120000"/>
              </a:lnSpc>
              <a:buNone/>
            </a:pPr>
            <a:r>
              <a:rPr lang="en-US" b="1" dirty="0" smtClean="0">
                <a:latin typeface="Times New Roman" pitchFamily="18" charset="0"/>
                <a:cs typeface="Times New Roman" pitchFamily="18" charset="0"/>
              </a:rPr>
              <a:t>Multi-Site Support</a:t>
            </a:r>
            <a:endParaRPr lang="en-US" dirty="0" smtClean="0">
              <a:latin typeface="Times New Roman" pitchFamily="18" charset="0"/>
              <a:cs typeface="Times New Roman" pitchFamily="18" charset="0"/>
            </a:endParaRPr>
          </a:p>
          <a:p>
            <a:pPr>
              <a:lnSpc>
                <a:spcPct val="120000"/>
              </a:lnSpc>
            </a:pPr>
            <a:r>
              <a:rPr lang="en-US" dirty="0" smtClean="0">
                <a:latin typeface="Times New Roman" pitchFamily="18" charset="0"/>
                <a:cs typeface="Times New Roman" pitchFamily="18" charset="0"/>
              </a:rPr>
              <a:t>Automate ordering across multiple platforms (e.g., </a:t>
            </a:r>
            <a:r>
              <a:rPr lang="en-US" dirty="0" err="1" smtClean="0">
                <a:latin typeface="Times New Roman" pitchFamily="18" charset="0"/>
                <a:cs typeface="Times New Roman" pitchFamily="18" charset="0"/>
              </a:rPr>
              <a:t>Zomato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Uber</a:t>
            </a:r>
            <a:r>
              <a:rPr lang="en-US" dirty="0" smtClean="0">
                <a:latin typeface="Times New Roman" pitchFamily="18" charset="0"/>
                <a:cs typeface="Times New Roman" pitchFamily="18" charset="0"/>
              </a:rPr>
              <a:t> Eats).</a:t>
            </a:r>
          </a:p>
          <a:p>
            <a:pPr>
              <a:lnSpc>
                <a:spcPct val="120000"/>
              </a:lnSpc>
              <a:buNone/>
            </a:pPr>
            <a:r>
              <a:rPr lang="en-US" b="1" dirty="0" smtClean="0">
                <a:latin typeface="Times New Roman" pitchFamily="18" charset="0"/>
                <a:cs typeface="Times New Roman" pitchFamily="18" charset="0"/>
              </a:rPr>
              <a:t>Dynamic Inputs</a:t>
            </a:r>
            <a:endParaRPr lang="en-US" dirty="0" smtClean="0">
              <a:latin typeface="Times New Roman" pitchFamily="18" charset="0"/>
              <a:cs typeface="Times New Roman" pitchFamily="18" charset="0"/>
            </a:endParaRPr>
          </a:p>
          <a:p>
            <a:pPr>
              <a:lnSpc>
                <a:spcPct val="120000"/>
              </a:lnSpc>
            </a:pPr>
            <a:r>
              <a:rPr lang="en-US" dirty="0" smtClean="0">
                <a:latin typeface="Times New Roman" pitchFamily="18" charset="0"/>
                <a:cs typeface="Times New Roman" pitchFamily="18" charset="0"/>
              </a:rPr>
              <a:t>Accept batch orders via file uploads (e.g., CSV/Excel).</a:t>
            </a:r>
          </a:p>
          <a:p>
            <a:pPr>
              <a:lnSpc>
                <a:spcPct val="120000"/>
              </a:lnSpc>
              <a:buNone/>
            </a:pPr>
            <a:r>
              <a:rPr lang="en-US" b="1" dirty="0" smtClean="0">
                <a:latin typeface="Times New Roman" pitchFamily="18" charset="0"/>
                <a:cs typeface="Times New Roman" pitchFamily="18" charset="0"/>
              </a:rPr>
              <a:t>Personalization</a:t>
            </a:r>
            <a:endParaRPr lang="en-US" dirty="0" smtClean="0">
              <a:latin typeface="Times New Roman" pitchFamily="18" charset="0"/>
              <a:cs typeface="Times New Roman" pitchFamily="18" charset="0"/>
            </a:endParaRPr>
          </a:p>
          <a:p>
            <a:pPr>
              <a:lnSpc>
                <a:spcPct val="120000"/>
              </a:lnSpc>
            </a:pPr>
            <a:r>
              <a:rPr lang="en-US" dirty="0" smtClean="0">
                <a:latin typeface="Times New Roman" pitchFamily="18" charset="0"/>
                <a:cs typeface="Times New Roman" pitchFamily="18" charset="0"/>
              </a:rPr>
              <a:t>Integrate user preferences like dietary restrictions and favorite cuisines.</a:t>
            </a:r>
          </a:p>
          <a:p>
            <a:pPr>
              <a:lnSpc>
                <a:spcPct val="120000"/>
              </a:lnSpc>
              <a:buNone/>
            </a:pPr>
            <a:r>
              <a:rPr lang="en-US" b="1" dirty="0" smtClean="0">
                <a:latin typeface="Times New Roman" pitchFamily="18" charset="0"/>
                <a:cs typeface="Times New Roman" pitchFamily="18" charset="0"/>
              </a:rPr>
              <a:t>Error Handling</a:t>
            </a:r>
            <a:endParaRPr lang="en-US" dirty="0" smtClean="0">
              <a:latin typeface="Times New Roman" pitchFamily="18" charset="0"/>
              <a:cs typeface="Times New Roman" pitchFamily="18" charset="0"/>
            </a:endParaRPr>
          </a:p>
          <a:p>
            <a:pPr>
              <a:lnSpc>
                <a:spcPct val="120000"/>
              </a:lnSpc>
            </a:pPr>
            <a:r>
              <a:rPr lang="en-US" dirty="0" smtClean="0">
                <a:latin typeface="Times New Roman" pitchFamily="18" charset="0"/>
                <a:cs typeface="Times New Roman" pitchFamily="18" charset="0"/>
              </a:rPr>
              <a:t>Advanced logging and retry logic for network/site failures.</a:t>
            </a:r>
          </a:p>
          <a:p>
            <a:pPr>
              <a:lnSpc>
                <a:spcPct val="120000"/>
              </a:lnSpc>
              <a:buNone/>
            </a:pPr>
            <a:r>
              <a:rPr lang="en-US" b="1" dirty="0" smtClean="0">
                <a:latin typeface="Times New Roman" pitchFamily="18" charset="0"/>
                <a:cs typeface="Times New Roman" pitchFamily="18" charset="0"/>
              </a:rPr>
              <a:t>Payment Integration</a:t>
            </a:r>
            <a:endParaRPr lang="en-US" dirty="0" smtClean="0">
              <a:latin typeface="Times New Roman" pitchFamily="18" charset="0"/>
              <a:cs typeface="Times New Roman" pitchFamily="18" charset="0"/>
            </a:endParaRPr>
          </a:p>
          <a:p>
            <a:pPr>
              <a:lnSpc>
                <a:spcPct val="120000"/>
              </a:lnSpc>
            </a:pPr>
            <a:r>
              <a:rPr lang="en-US" dirty="0" smtClean="0">
                <a:latin typeface="Times New Roman" pitchFamily="18" charset="0"/>
                <a:cs typeface="Times New Roman" pitchFamily="18" charset="0"/>
              </a:rPr>
              <a:t>Automate secure payments via integrated gateways.</a:t>
            </a:r>
          </a:p>
          <a:p>
            <a:pPr>
              <a:lnSpc>
                <a:spcPct val="120000"/>
              </a:lnSpc>
              <a:buNone/>
            </a:pPr>
            <a:r>
              <a:rPr lang="en-US" b="1" dirty="0" smtClean="0">
                <a:latin typeface="Times New Roman" pitchFamily="18" charset="0"/>
                <a:cs typeface="Times New Roman" pitchFamily="18" charset="0"/>
              </a:rPr>
              <a:t>Real-Time Notifications</a:t>
            </a:r>
            <a:endParaRPr lang="en-US" dirty="0" smtClean="0">
              <a:latin typeface="Times New Roman" pitchFamily="18" charset="0"/>
              <a:cs typeface="Times New Roman" pitchFamily="18" charset="0"/>
            </a:endParaRPr>
          </a:p>
          <a:p>
            <a:pPr>
              <a:lnSpc>
                <a:spcPct val="120000"/>
              </a:lnSpc>
            </a:pPr>
            <a:r>
              <a:rPr lang="en-US" dirty="0" smtClean="0">
                <a:latin typeface="Times New Roman" pitchFamily="18" charset="0"/>
                <a:cs typeface="Times New Roman" pitchFamily="18" charset="0"/>
              </a:rPr>
              <a:t>Send order updates via email, SMS, or </a:t>
            </a:r>
            <a:r>
              <a:rPr lang="en-US" dirty="0" err="1" smtClean="0">
                <a:latin typeface="Times New Roman" pitchFamily="18" charset="0"/>
                <a:cs typeface="Times New Roman" pitchFamily="18" charset="0"/>
              </a:rPr>
              <a:t>WhatsApp</a:t>
            </a:r>
            <a:r>
              <a:rPr lang="en-US" dirty="0" smtClean="0">
                <a:latin typeface="Times New Roman" pitchFamily="18" charset="0"/>
                <a:cs typeface="Times New Roman" pitchFamily="18" charset="0"/>
              </a:rPr>
              <a:t>.</a:t>
            </a:r>
          </a:p>
          <a:p>
            <a:pPr>
              <a:lnSpc>
                <a:spcPct val="120000"/>
              </a:lnSpc>
              <a:buNone/>
            </a:pPr>
            <a:r>
              <a:rPr lang="en-US" b="1" dirty="0" smtClean="0">
                <a:latin typeface="Times New Roman" pitchFamily="18" charset="0"/>
                <a:cs typeface="Times New Roman" pitchFamily="18" charset="0"/>
              </a:rPr>
              <a:t>AI-Powered Search</a:t>
            </a:r>
            <a:endParaRPr lang="en-US" dirty="0" smtClean="0">
              <a:latin typeface="Times New Roman" pitchFamily="18" charset="0"/>
              <a:cs typeface="Times New Roman" pitchFamily="18" charset="0"/>
            </a:endParaRPr>
          </a:p>
          <a:p>
            <a:pPr>
              <a:lnSpc>
                <a:spcPct val="120000"/>
              </a:lnSpc>
            </a:pPr>
            <a:r>
              <a:rPr lang="en-US" dirty="0" smtClean="0">
                <a:latin typeface="Times New Roman" pitchFamily="18" charset="0"/>
                <a:cs typeface="Times New Roman" pitchFamily="18" charset="0"/>
              </a:rPr>
              <a:t>Enable conversational queries for seamless searching.</a:t>
            </a:r>
          </a:p>
          <a:p>
            <a:pPr>
              <a:lnSpc>
                <a:spcPct val="120000"/>
              </a:lnSpc>
              <a:buNone/>
            </a:pPr>
            <a:r>
              <a:rPr lang="en-US" b="1" dirty="0" smtClean="0">
                <a:latin typeface="Times New Roman" pitchFamily="18" charset="0"/>
                <a:cs typeface="Times New Roman" pitchFamily="18" charset="0"/>
              </a:rPr>
              <a:t>Scheduled Orders</a:t>
            </a:r>
            <a:endParaRPr lang="en-US" dirty="0" smtClean="0">
              <a:latin typeface="Times New Roman" pitchFamily="18" charset="0"/>
              <a:cs typeface="Times New Roman" pitchFamily="18" charset="0"/>
            </a:endParaRPr>
          </a:p>
          <a:p>
            <a:pPr>
              <a:lnSpc>
                <a:spcPct val="120000"/>
              </a:lnSpc>
            </a:pPr>
            <a:r>
              <a:rPr lang="en-US" dirty="0" smtClean="0">
                <a:latin typeface="Times New Roman" pitchFamily="18" charset="0"/>
                <a:cs typeface="Times New Roman" pitchFamily="18" charset="0"/>
              </a:rPr>
              <a:t>Add support for scheduling future orders.</a:t>
            </a:r>
          </a:p>
          <a:p>
            <a:pPr>
              <a:buNone/>
            </a:pPr>
            <a:endParaRPr lang="en-US" dirty="0" smtClean="0"/>
          </a:p>
          <a:p>
            <a:endParaRPr lang="en-US" dirty="0" smtClean="0"/>
          </a:p>
          <a:p>
            <a:endParaRPr lang="en-US" dirty="0" smtClean="0"/>
          </a:p>
          <a:p>
            <a:endParaRPr lang="en-US" dirty="0"/>
          </a:p>
        </p:txBody>
      </p:sp>
    </p:spTree>
    <p:custDataLst>
      <p:tags r:id="rId1"/>
    </p:custDataLst>
    <p:extLst>
      <p:ext uri="{BB962C8B-B14F-4D97-AF65-F5344CB8AC3E}">
        <p14:creationId xmlns:p14="http://schemas.microsoft.com/office/powerpoint/2010/main" xmlns="" val="21108532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142852"/>
            <a:ext cx="7498080" cy="1143000"/>
          </a:xfrm>
        </p:spPr>
        <p:txBody>
          <a:bodyPr>
            <a:normAutofit/>
          </a:bodyPr>
          <a:lstStyle/>
          <a:p>
            <a:r>
              <a:rPr lang="en-US" b="1" u="sng" dirty="0" smtClean="0"/>
              <a:t>References</a:t>
            </a:r>
            <a:endParaRPr lang="en-IN" b="1" u="sng" dirty="0">
              <a:latin typeface="+mj-lt"/>
            </a:endParaRPr>
          </a:p>
        </p:txBody>
      </p:sp>
      <p:sp>
        <p:nvSpPr>
          <p:cNvPr id="3" name="Content Placeholder 2"/>
          <p:cNvSpPr>
            <a:spLocks noGrp="1"/>
          </p:cNvSpPr>
          <p:nvPr>
            <p:ph idx="1"/>
          </p:nvPr>
        </p:nvSpPr>
        <p:spPr>
          <a:xfrm>
            <a:off x="1142976" y="1142984"/>
            <a:ext cx="7498080" cy="5214974"/>
          </a:xfrm>
        </p:spPr>
        <p:txBody>
          <a:bodyPr>
            <a:normAutofit fontScale="47500" lnSpcReduction="20000"/>
          </a:bodyPr>
          <a:lstStyle/>
          <a:p>
            <a:pPr algn="just">
              <a:lnSpc>
                <a:spcPct val="120000"/>
              </a:lnSpc>
              <a:buNone/>
            </a:pPr>
            <a:r>
              <a:rPr lang="en-US"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UiPath</a:t>
            </a:r>
            <a:r>
              <a:rPr lang="en-US" b="1" dirty="0" smtClean="0">
                <a:latin typeface="Times New Roman" pitchFamily="18" charset="0"/>
                <a:cs typeface="Times New Roman" pitchFamily="18" charset="0"/>
              </a:rPr>
              <a:t> Official Website</a:t>
            </a:r>
            <a:endParaRPr lang="en-US" dirty="0" smtClean="0">
              <a:latin typeface="Times New Roman" pitchFamily="18" charset="0"/>
              <a:cs typeface="Times New Roman" pitchFamily="18" charset="0"/>
            </a:endParaRPr>
          </a:p>
          <a:p>
            <a:pPr lvl="0" algn="just">
              <a:lnSpc>
                <a:spcPct val="120000"/>
              </a:lnSpc>
            </a:pPr>
            <a:r>
              <a:rPr lang="en-US" dirty="0" smtClean="0">
                <a:latin typeface="Times New Roman" pitchFamily="18" charset="0"/>
                <a:cs typeface="Times New Roman" pitchFamily="18" charset="0"/>
              </a:rPr>
              <a:t>Comprehensive guides, tutorials, and community forums.</a:t>
            </a:r>
          </a:p>
          <a:p>
            <a:pPr lvl="0" algn="just">
              <a:lnSpc>
                <a:spcPct val="120000"/>
              </a:lnSpc>
            </a:pPr>
            <a:r>
              <a:rPr lang="en-US" dirty="0" smtClean="0">
                <a:latin typeface="Times New Roman" pitchFamily="18" charset="0"/>
                <a:cs typeface="Times New Roman" pitchFamily="18" charset="0"/>
              </a:rPr>
              <a:t>https://www.uipath.com/resources</a:t>
            </a:r>
          </a:p>
          <a:p>
            <a:pPr algn="just">
              <a:lnSpc>
                <a:spcPct val="120000"/>
              </a:lnSpc>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Automation Anywhere Blog</a:t>
            </a:r>
            <a:endParaRPr lang="en-US" dirty="0" smtClean="0">
              <a:latin typeface="Times New Roman" pitchFamily="18" charset="0"/>
              <a:cs typeface="Times New Roman" pitchFamily="18" charset="0"/>
            </a:endParaRPr>
          </a:p>
          <a:p>
            <a:pPr lvl="0" algn="just">
              <a:lnSpc>
                <a:spcPct val="120000"/>
              </a:lnSpc>
            </a:pPr>
            <a:r>
              <a:rPr lang="en-US" dirty="0" smtClean="0">
                <a:latin typeface="Times New Roman" pitchFamily="18" charset="0"/>
                <a:cs typeface="Times New Roman" pitchFamily="18" charset="0"/>
              </a:rPr>
              <a:t>Articles on automation trends, best practices, and use cases.</a:t>
            </a:r>
          </a:p>
          <a:p>
            <a:pPr lvl="0" algn="just">
              <a:lnSpc>
                <a:spcPct val="120000"/>
              </a:lnSpc>
            </a:pPr>
            <a:r>
              <a:rPr lang="en-US" dirty="0" smtClean="0">
                <a:latin typeface="Times New Roman" pitchFamily="18" charset="0"/>
                <a:cs typeface="Times New Roman" pitchFamily="18" charset="0"/>
              </a:rPr>
              <a:t>https://www.automationanywhere.com/blog</a:t>
            </a:r>
          </a:p>
          <a:p>
            <a:pPr algn="just">
              <a:lnSpc>
                <a:spcPct val="120000"/>
              </a:lnSpc>
              <a:buNone/>
            </a:pPr>
            <a:r>
              <a:rPr lang="en-US" b="1" dirty="0" smtClean="0">
                <a:latin typeface="Times New Roman" pitchFamily="18" charset="0"/>
                <a:cs typeface="Times New Roman" pitchFamily="18" charset="0"/>
              </a:rPr>
              <a:t>Blue Prism Learning Resources</a:t>
            </a:r>
            <a:endParaRPr lang="en-US" dirty="0" smtClean="0">
              <a:latin typeface="Times New Roman" pitchFamily="18" charset="0"/>
              <a:cs typeface="Times New Roman" pitchFamily="18" charset="0"/>
            </a:endParaRPr>
          </a:p>
          <a:p>
            <a:pPr lvl="0" algn="just">
              <a:lnSpc>
                <a:spcPct val="120000"/>
              </a:lnSpc>
            </a:pPr>
            <a:r>
              <a:rPr lang="en-US" dirty="0" smtClean="0">
                <a:latin typeface="Times New Roman" pitchFamily="18" charset="0"/>
                <a:cs typeface="Times New Roman" pitchFamily="18" charset="0"/>
              </a:rPr>
              <a:t>Resources to explore RPA concepts and implementations.</a:t>
            </a:r>
          </a:p>
          <a:p>
            <a:pPr lvl="0" algn="just">
              <a:lnSpc>
                <a:spcPct val="120000"/>
              </a:lnSpc>
            </a:pPr>
            <a:r>
              <a:rPr lang="en-US" dirty="0" smtClean="0">
                <a:latin typeface="Times New Roman" pitchFamily="18" charset="0"/>
                <a:cs typeface="Times New Roman" pitchFamily="18" charset="0"/>
              </a:rPr>
              <a:t>https://www.blueprism.com/resources/</a:t>
            </a:r>
          </a:p>
          <a:p>
            <a:pPr algn="just">
              <a:lnSpc>
                <a:spcPct val="120000"/>
              </a:lnSpc>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Stack Overflow</a:t>
            </a:r>
            <a:endParaRPr lang="en-US" dirty="0" smtClean="0">
              <a:latin typeface="Times New Roman" pitchFamily="18" charset="0"/>
              <a:cs typeface="Times New Roman" pitchFamily="18" charset="0"/>
            </a:endParaRPr>
          </a:p>
          <a:p>
            <a:pPr lvl="0" algn="just">
              <a:lnSpc>
                <a:spcPct val="120000"/>
              </a:lnSpc>
            </a:pPr>
            <a:r>
              <a:rPr lang="en-US" dirty="0" smtClean="0">
                <a:latin typeface="Times New Roman" pitchFamily="18" charset="0"/>
                <a:cs typeface="Times New Roman" pitchFamily="18" charset="0"/>
              </a:rPr>
              <a:t>A go-to platform for troubleshooting RPA workflows and code-related issues.</a:t>
            </a:r>
          </a:p>
          <a:p>
            <a:pPr lvl="0" algn="just">
              <a:lnSpc>
                <a:spcPct val="120000"/>
              </a:lnSpc>
            </a:pPr>
            <a:r>
              <a:rPr lang="en-US" u="sng" dirty="0" smtClean="0">
                <a:latin typeface="Times New Roman" pitchFamily="18" charset="0"/>
                <a:cs typeface="Times New Roman" pitchFamily="18" charset="0"/>
                <a:hlinkClick r:id="rId4"/>
              </a:rPr>
              <a:t>https://stackoverflow.com/</a:t>
            </a:r>
            <a:endParaRPr lang="en-US" dirty="0" smtClean="0">
              <a:latin typeface="Times New Roman" pitchFamily="18" charset="0"/>
              <a:cs typeface="Times New Roman" pitchFamily="18" charset="0"/>
            </a:endParaRPr>
          </a:p>
          <a:p>
            <a:pPr algn="just">
              <a:lnSpc>
                <a:spcPct val="120000"/>
              </a:lnSpc>
              <a:buNone/>
            </a:pPr>
            <a:r>
              <a:rPr lang="en-US"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GitHub</a:t>
            </a:r>
            <a:r>
              <a:rPr lang="en-US" b="1" dirty="0" smtClean="0">
                <a:latin typeface="Times New Roman" pitchFamily="18" charset="0"/>
                <a:cs typeface="Times New Roman" pitchFamily="18" charset="0"/>
              </a:rPr>
              <a:t> RPA Repositories</a:t>
            </a:r>
            <a:endParaRPr lang="en-US" dirty="0" smtClean="0">
              <a:latin typeface="Times New Roman" pitchFamily="18" charset="0"/>
              <a:cs typeface="Times New Roman" pitchFamily="18" charset="0"/>
            </a:endParaRPr>
          </a:p>
          <a:p>
            <a:pPr lvl="0" algn="just">
              <a:lnSpc>
                <a:spcPct val="120000"/>
              </a:lnSpc>
            </a:pPr>
            <a:r>
              <a:rPr lang="en-US" dirty="0" smtClean="0">
                <a:latin typeface="Times New Roman" pitchFamily="18" charset="0"/>
                <a:cs typeface="Times New Roman" pitchFamily="18" charset="0"/>
              </a:rPr>
              <a:t>Open-source RPA scripts, projects, and tools.</a:t>
            </a:r>
          </a:p>
          <a:p>
            <a:pPr lvl="0" algn="just">
              <a:lnSpc>
                <a:spcPct val="120000"/>
              </a:lnSpc>
            </a:pPr>
            <a:r>
              <a:rPr lang="en-US" u="sng" dirty="0" smtClean="0">
                <a:latin typeface="Times New Roman" pitchFamily="18" charset="0"/>
                <a:cs typeface="Times New Roman" pitchFamily="18" charset="0"/>
                <a:hlinkClick r:id="rId5"/>
              </a:rPr>
              <a:t>https://github.com/topics/rpa</a:t>
            </a:r>
            <a:endParaRPr lang="en-US" dirty="0">
              <a:latin typeface="Times New Roman" pitchFamily="18" charset="0"/>
              <a:cs typeface="Times New Roman" pitchFamily="18" charset="0"/>
            </a:endParaRPr>
          </a:p>
        </p:txBody>
      </p:sp>
    </p:spTree>
    <p:custDataLst>
      <p:tags r:id="rId1"/>
    </p:custDataLst>
    <p:extLst>
      <p:ext uri="{BB962C8B-B14F-4D97-AF65-F5344CB8AC3E}">
        <p14:creationId xmlns:p14="http://schemas.microsoft.com/office/powerpoint/2010/main" xmlns="" val="19304747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smtClean="0">
                <a:ln w="0"/>
                <a:effectLst>
                  <a:outerShdw blurRad="38100" dist="19050" dir="2700000" algn="tl" rotWithShape="0">
                    <a:schemeClr val="dk1">
                      <a:alpha val="40000"/>
                    </a:schemeClr>
                  </a:outerShdw>
                </a:effectLst>
              </a:rPr>
              <a:t>Queries</a:t>
            </a:r>
            <a:endParaRPr lang="en-US" sz="96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xmlns="" val="219180223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42976" y="2357430"/>
            <a:ext cx="7689093" cy="1569660"/>
          </a:xfrm>
          <a:prstGeom prst="rect">
            <a:avLst/>
          </a:prstGeom>
          <a:noFill/>
        </p:spPr>
        <p:txBody>
          <a:bodyPr wrap="none" lIns="91440" tIns="45720" rIns="91440" bIns="45720">
            <a:spAutoFit/>
          </a:bodyPr>
          <a:lstStyle/>
          <a:p>
            <a:pPr algn="ctr"/>
            <a:r>
              <a:rPr lang="en-US" sz="9600" dirty="0" smtClean="0">
                <a:ln w="0"/>
                <a:effectLst>
                  <a:outerShdw blurRad="38100" dist="19050" dir="2700000" algn="tl" rotWithShape="0">
                    <a:schemeClr val="dk1">
                      <a:alpha val="40000"/>
                    </a:schemeClr>
                  </a:outerShdw>
                </a:effectLst>
              </a:rPr>
              <a:t>Demonstration</a:t>
            </a:r>
            <a:endParaRPr lang="en-US" sz="96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xmlns="" val="26063687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xmlns="" val="207485784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heme/_rels/theme1.xml.rels>&#65279;<?xml version="1.0" encoding="utf-8"?><Relationships xmlns="http://schemas.openxmlformats.org/package/2006/relationships"><Relationship Type="http://schemas.openxmlformats.org/officeDocument/2006/relationships/image" Target="/ppt/media/image1.jpeg" Id="rId1" /></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9338</TotalTime>
  <Words>1525</Words>
  <Application>Microsoft Office PowerPoint</Application>
  <PresentationFormat>On-screen Show (4:3)</PresentationFormat>
  <Paragraphs>168</Paragraphs>
  <Slides>23</Slides>
  <Notes>17</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Solstice</vt:lpstr>
      <vt:lpstr>Slide 1</vt:lpstr>
      <vt:lpstr>Abstract :</vt:lpstr>
      <vt:lpstr>Need for the Proposed System:</vt:lpstr>
      <vt:lpstr>Advantages of the Proposed System:</vt:lpstr>
      <vt:lpstr>Literature Survey:</vt:lpstr>
      <vt:lpstr>Literature Survey:</vt:lpstr>
      <vt:lpstr>Main Objective:</vt:lpstr>
      <vt:lpstr>Architecture:</vt:lpstr>
      <vt:lpstr>System Requirements:</vt:lpstr>
      <vt:lpstr>System Requirements:</vt:lpstr>
      <vt:lpstr>Functional Description :</vt:lpstr>
      <vt:lpstr>Process Design:</vt:lpstr>
      <vt:lpstr>Implementation:</vt:lpstr>
      <vt:lpstr>Implementation:</vt:lpstr>
      <vt:lpstr>Implementation:</vt:lpstr>
      <vt:lpstr>Testing:</vt:lpstr>
      <vt:lpstr>Slide 17</vt:lpstr>
      <vt:lpstr>Conclusions:</vt:lpstr>
      <vt:lpstr>Future Enhancement:</vt:lpstr>
      <vt:lpstr>References</vt:lpstr>
      <vt:lpstr>Slide 21</vt:lpstr>
      <vt:lpstr>Slide 22</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Goutham</dc:creator>
  <cp:lastModifiedBy>Goutham</cp:lastModifiedBy>
  <cp:revision>1758</cp:revision>
  <dcterms:created xsi:type="dcterms:W3CDTF">2013-05-17T03:00:03Z</dcterms:created>
  <dcterms:modified xsi:type="dcterms:W3CDTF">2024-11-21T18:58:28Z</dcterms:modified>
</cp:coreProperties>
</file>